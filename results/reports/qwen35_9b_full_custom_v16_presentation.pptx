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755ed074894cc9" /><Relationship Type="http://schemas.openxmlformats.org/officeDocument/2006/relationships/extended-properties" Target="/docProps/app.xml" Id="R69bc7b1f0f6349a6" /><Relationship Type="http://schemas.openxmlformats.org/officeDocument/2006/relationships/officeDocument" Target="/ppt/presentation.xml" Id="R1bec8c0f309742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3a06f67c8c41c5"/>
  </p:sldMasterIdLst>
  <p:notesMasterIdLst>
    <p:notesMasterId xmlns:r="http://schemas.openxmlformats.org/officeDocument/2006/relationships" r:id="R5ff4966eef134ab7"/>
  </p:notesMasterIdLst>
  <p:sldIdLst>
    <p:sldId xmlns:r="http://schemas.openxmlformats.org/officeDocument/2006/relationships" id="256" r:id="R72e24110801d406a"/>
    <p:sldId xmlns:r="http://schemas.openxmlformats.org/officeDocument/2006/relationships" id="257" r:id="R40c42840a0f64585"/>
    <p:sldId xmlns:r="http://schemas.openxmlformats.org/officeDocument/2006/relationships" id="258" r:id="R0790a531923e4292"/>
    <p:sldId xmlns:r="http://schemas.openxmlformats.org/officeDocument/2006/relationships" id="259" r:id="Raced0863ebf24118"/>
    <p:sldId xmlns:r="http://schemas.openxmlformats.org/officeDocument/2006/relationships" id="260" r:id="Rfd334552327542da"/>
    <p:sldId xmlns:r="http://schemas.openxmlformats.org/officeDocument/2006/relationships" id="261" r:id="Rf879cdff87214ba0"/>
    <p:sldId xmlns:r="http://schemas.openxmlformats.org/officeDocument/2006/relationships" id="262" r:id="R0e916deee2084ff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90f41a32704c12" /><Relationship Type="http://schemas.openxmlformats.org/officeDocument/2006/relationships/slideMaster" Target="/ppt/slideMasters/slideMaster1.xml" Id="R363a06f67c8c41c5" /><Relationship Type="http://schemas.openxmlformats.org/officeDocument/2006/relationships/notesMaster" Target="/ppt/notesMasters/notesMaster1.xml" Id="R5ff4966eef134ab7" /><Relationship Type="http://schemas.openxmlformats.org/officeDocument/2006/relationships/presProps" Target="/ppt/presProps.xml" Id="R6447fe5dd70a42b9" /><Relationship Type="http://schemas.openxmlformats.org/officeDocument/2006/relationships/tableStyles" Target="/ppt/tableStyles.xml" Id="R32d83a7b369a407e" /><Relationship Type="http://schemas.openxmlformats.org/officeDocument/2006/relationships/slide" Target="/ppt/slides/slide1.xml" Id="R72e24110801d406a" /><Relationship Type="http://schemas.openxmlformats.org/officeDocument/2006/relationships/slide" Target="/ppt/slides/slide2.xml" Id="R40c42840a0f64585" /><Relationship Type="http://schemas.openxmlformats.org/officeDocument/2006/relationships/slide" Target="/ppt/slides/slide3.xml" Id="R0790a531923e4292" /><Relationship Type="http://schemas.openxmlformats.org/officeDocument/2006/relationships/slide" Target="/ppt/slides/slide4.xml" Id="Raced0863ebf24118" /><Relationship Type="http://schemas.openxmlformats.org/officeDocument/2006/relationships/slide" Target="/ppt/slides/slide5.xml" Id="Rfd334552327542da" /><Relationship Type="http://schemas.openxmlformats.org/officeDocument/2006/relationships/slide" Target="/ppt/slides/slide6.xml" Id="Rf879cdff87214ba0" /><Relationship Type="http://schemas.openxmlformats.org/officeDocument/2006/relationships/slide" Target="/ppt/slides/slide7.xml" Id="R0e916deee2084f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60becd12784c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5fba5225e84536" /><Relationship Type="http://schemas.openxmlformats.org/officeDocument/2006/relationships/notesMaster" Target="/ppt/notesMasters/notesMaster1.xml" Id="Rb289b2de5d9546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4adf01fe1d45ec" /><Relationship Type="http://schemas.openxmlformats.org/officeDocument/2006/relationships/notesMaster" Target="/ppt/notesMasters/notesMaster1.xml" Id="Rcbef5d20e1e148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cbe1a3e1cf44cc" /><Relationship Type="http://schemas.openxmlformats.org/officeDocument/2006/relationships/notesMaster" Target="/ppt/notesMasters/notesMaster1.xml" Id="R2ac1c585c15e44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68b119b1d9412b" /><Relationship Type="http://schemas.openxmlformats.org/officeDocument/2006/relationships/notesMaster" Target="/ppt/notesMasters/notesMaster1.xml" Id="R0282f7e1449c4e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4a4ebbf86149e3" /><Relationship Type="http://schemas.openxmlformats.org/officeDocument/2006/relationships/notesMaster" Target="/ppt/notesMasters/notesMaster1.xml" Id="R43300abe318f41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bfc70c35634ed6" /><Relationship Type="http://schemas.openxmlformats.org/officeDocument/2006/relationships/notesMaster" Target="/ppt/notesMasters/notesMaster1.xml" Id="R6aa28dda1fbc4c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1b72423e024148" /><Relationship Type="http://schemas.openxmlformats.org/officeDocument/2006/relationships/notesMaster" Target="/ppt/notesMasters/notesMaster1.xml" Id="Rb1c3fb8fa13944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6989c50ca246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2e573cbbf44249" /><Relationship Type="http://schemas.openxmlformats.org/officeDocument/2006/relationships/slideLayout" Target="/ppt/slideLayouts/slideLayout1.xml" Id="R22eed6943b4f44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eed6943b4f44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e4eac56fa4619" /><Relationship Type="http://schemas.openxmlformats.org/officeDocument/2006/relationships/notesSlide" Target="/ppt/notesSlides/notesSlide1.xml" Id="Rea6eb6bbd78143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4a064c13147dd" /><Relationship Type="http://schemas.openxmlformats.org/officeDocument/2006/relationships/notesSlide" Target="/ppt/notesSlides/notesSlide2.xml" Id="R2497f17050fb44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819e010ca4a9d" /><Relationship Type="http://schemas.openxmlformats.org/officeDocument/2006/relationships/notesSlide" Target="/ppt/notesSlides/notesSlide3.xml" Id="Rd464702f1c924d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19a484819f47ce" /><Relationship Type="http://schemas.openxmlformats.org/officeDocument/2006/relationships/notesSlide" Target="/ppt/notesSlides/notesSlide4.xml" Id="R4a3fb06341f147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c984880764142" /><Relationship Type="http://schemas.openxmlformats.org/officeDocument/2006/relationships/notesSlide" Target="/ppt/notesSlides/notesSlide5.xml" Id="R921a43b123124c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c7444219e4304" /><Relationship Type="http://schemas.openxmlformats.org/officeDocument/2006/relationships/chart" Target="/ppt/slides/charts/chart1.xml" Id="Rfdf3fd6c55f343d9" /><Relationship Type="http://schemas.openxmlformats.org/officeDocument/2006/relationships/notesSlide" Target="/ppt/notesSlides/notesSlide6.xml" Id="Rb2c74347c58444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e6b4fdbc14d1c" /><Relationship Type="http://schemas.openxmlformats.org/officeDocument/2006/relationships/notesSlide" Target="/ppt/notesSlides/notesSlide7.xml" Id="Rd3f8e4eacd5149d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Decode TPS</c:v>
          </c:tx>
          <c:spPr>
            <a:solidFill xmlns:a="http://schemas.openxmlformats.org/drawingml/2006/main">
              <a:schemeClr val="accent1"/>
            </a:solidFill>
          </c:spPr>
          <c:dLbls/>
          <c:cat>
            <c:strLit>
              <c:ptCount val="2"/>
              <c:pt idx="0">
                <c:v>Stock MNN</c:v>
              </c:pt>
              <c:pt idx="1">
                <c:v>Customlib</c:v>
              </c:pt>
            </c:strLit>
          </c:cat>
          <c:val>
            <c:numLit>
              <c:formatCode>General</c:formatCode>
              <c:ptCount val="2"/>
              <c:pt idx="0">
                <c:v>2.28587</c:v>
              </c:pt>
              <c:pt idx="1">
                <c:v>0.424895</c:v>
              </c:pt>
            </c:numLit>
          </c:val>
        </c:ser>
        <c:dLbls>
          <c:dLblPos val="outEnd"/>
          <c:showVal val="1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0E0E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3C49F3-FBCD-488E-ACF3-6698CE3C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Qwen3.5-9B custom inference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FC0C6-7462-4388-BB3F-504A99B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857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Full custom path is complete. It is not faster than MNN yet.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CEBFEC-B992-480D-8ED3-559CE635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24250"/>
            <a:ext cx="685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AWS Device Farm v16 final on Samsung Galaxy S26 Ultra. Same model, prompt, decode length, greedy settings, and measured count for stock MNN and customlib.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5493B-33A3-4AF5-A21F-5F90C026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Stock decode TPS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18EBB9-8502-4964-AA04-0ACD9B64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0000"/>
                </a:solidFill>
              </a:defRPr>
            </a:pPr>
            <a:r>
              <a:rPr sz="3900" b="1">
                <a:solidFill>
                  <a:srgbClr val="000000"/>
                </a:solidFill>
              </a:rPr>
              <a:t>2.2859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1BD29-6A0E-4218-96C5-D19975AB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TPOT 437.47 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6A3E2B-1811-48FC-9963-42FB2CC6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62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Custom decode TPS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54F934-571F-4D04-A152-CE27D57C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6730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6B35"/>
                </a:solidFill>
              </a:defRPr>
            </a:pPr>
            <a:r>
              <a:rPr sz="3900" b="1">
                <a:solidFill>
                  <a:srgbClr val="FF6B35"/>
                </a:solidFill>
              </a:rPr>
              <a:t>0.4249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E6D5F-8BC8-47F5-AE69-5AE87269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7150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TPOT 2353.52 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37D07B-E56E-4362-A0D4-8BDE5BA3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Custom / stock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4AC681-CD0C-4443-9C61-4DD2B0B4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67300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0000"/>
                </a:solidFill>
              </a:defRPr>
            </a:pPr>
            <a:r>
              <a:rPr sz="3900" b="1">
                <a:solidFill>
                  <a:srgbClr val="000000"/>
                </a:solidFill>
              </a:rPr>
              <a:t>0.1859x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475352-3F0F-4CAF-8587-1DDCFE37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150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No speedup claimed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A3CF5D-FB75-40AD-8609-691F7C9C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104900"/>
            <a:ext cx="1981200" cy="481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7B189E-7096-43B3-A38C-B547076D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3906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Final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67BC3A-CAA4-4FF8-8406-8BCA492A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00250"/>
            <a:ext cx="152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fallback_op_families = []</a:t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use_mnn_fallback = 0</a:t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full_custom_decode = true</a:t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Device Farm PASS/PASS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70E03B-601B-4941-A7AC-552E8913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610100"/>
            <a:ext cx="152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Result: complete custom generation coverage, slower throughput.</a:t>
            </a:r>
          </a:p>
        </p:txBody>
      </p:sp>
    </p:spTree>
    <p:extLst>
      <p:ext uri="{BB962C8B-B14F-4D97-AF65-F5344CB8AC3E}">
        <p14:creationId xmlns:p14="http://schemas.microsoft.com/office/powerpoint/2010/main" val="17552164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62FF0C-AD86-484D-8A12-623654B6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MEASURED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88E471-AC03-42E7-BF83-C9E7F983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619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6CDFE-AAF5-447C-899D-5DF6526A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7C4D16-5247-40F5-A6E4-7C7FFCC4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The benchmark now leaves MNN before generation starts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E6EC9-5076-4E1E-9E58-78956887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The final custom JSON proves the measured loop does not call MNN::Llm::response. MNN remains only as the stock baseline and as a separate hot-path trace source.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428814-12EA-4094-82D3-4639706B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F1E5D-209C-4B35-9F24-AC35D332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JNI benchmark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6AC882-12C0-44B5-95AF-869AC385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1885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NativeBenchmark.runBenchmark sets use_mnn_fallback = 0 and calls xq_generate.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96DD7C-86F7-4F6C-A7AF-73B49602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5275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FCD393-DE2C-4730-B15F-F630566A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861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 ABI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E55D14-9707-4139-A152-4D0FC74F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67100"/>
            <a:ext cx="1885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xq_create loads Session; xq_generate drives prefill and decode through CustomModel.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C34F69-5D49-4ED7-A399-9B84CFF8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5275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E0DF64-80A3-4C1A-8500-BC9479F0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861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Custom prefill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0D9129-2C5A-4262-A675-9094ACF3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1885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Every prompt token runs the layer stack and builds K/V plus recurrent state.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130B2D-D407-4E9B-9486-C43DC590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5275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E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5FCE4D-660E-416E-B027-E097AE25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861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Custom decode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0550DC-C7D4-4D2E-87C5-75B65BDA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67100"/>
            <a:ext cx="1885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Attention, linear state, lm_head, and greedy sampling all run inside customlib.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43D303-869A-4E17-A894-3AA16474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7187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1B8A29-8076-44DF-A1BF-146E82E6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5147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104444-5C64-4D82-A432-03901249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57187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4940FB-C76E-4C08-A945-8388FD50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147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E95AF6-0F28-4F3B-9079-710FF8EF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7187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20EBD2-FE2D-4AE4-913E-7EA3C908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147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2EE075-527A-40F7-AC46-31A7A8C5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866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0B70CA-0CD9-4FBC-BB03-FEC4B525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387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Evidence field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1554D8-C2E2-4D53-8EB0-2CF1BE13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387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Final value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ADEE6A-315C-4B1C-B5F3-CFB9B0B4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86350"/>
            <a:ext cx="866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08E73E-9469-434D-8B1D-0315178D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6255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custom_path.calls_mnn_llm_response_for_measured_generation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2A1CDD-0433-4EA7-BEE6-0D81750F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625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false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0DA0F3-9609-4077-BF99-4B7B2CD4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10200"/>
            <a:ext cx="866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3A6AAC-89C2-430A-8749-960FC103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864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custom_path.use_mnn_fallback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595524-C54A-45B9-89CC-DAB00367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864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0C16B5-5BA0-44E4-B259-3574FBEC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34050"/>
            <a:ext cx="866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2972CD-2664-450C-8164-2A7869CB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1025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runtime.selected_kernels.full_custom_decode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B20C33-108E-4935-8D35-951D48E3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810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true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F12750-2C0A-4FE4-B5BE-34CA7200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57900"/>
            <a:ext cx="866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269CC1-C4B1-4B7E-84A1-2C3F7545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341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runtime.selected_kernels.fallback_op_families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FC1C1C-BD73-4F74-9988-33F961CC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1341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[]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34CC2E-3DFC-4F85-8127-D0A7DBF1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866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0D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10715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12C3FF-8129-45D3-8669-9D0CE5A6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CREATING THE KERNEL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68776-1875-404D-B0E9-64BDB6FB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619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E34E7-CF84-4AD0-8629-3CAA5F17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F7B66C-7D1D-487D-BBAC-72BE8BDF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The custom library starts at packing, not at JNI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C3696C-F8DC-451B-9B7C-2B7F7003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Qwen3.5 weights are exported into a W4A16 package that the runtime can load without depending on MNN graph execution.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85553F-3B3A-4B10-8709-5DD49E15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0"/>
            <a:ext cx="2476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5B0EE2-1349-4485-984B-552D5635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9085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1. Packer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0F4B86-E2BC-4F92-A83A-404D6CA5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2171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pack_qwen35_xq4.py exports projections, linear-attention tensors, lm_head, embeddings, norms, and manifest metadata.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64754F-0CAF-46BF-88F3-045FBCFC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7500"/>
            <a:ext cx="2476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0BA990-46DF-40C5-BCB4-E52816D8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9085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2. Weight format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E1C734-AA07-49E8-858F-DCF6EA04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71850"/>
            <a:ext cx="2171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XQW4A16 rows store bitpacked int4 payload plus per-row/per-group scale and zero arrays.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43F6AB-3ACB-400B-8E1F-F539BCBF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57500"/>
            <a:ext cx="2476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E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C28759-FA58-498B-851C-15C4C5F0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9085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3. Generated GEMV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B79934-E8D7-4E9E-A53D-6E5618D2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2171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xq_gemv_w4a16_neon.cpp performs fused dequant + GEMV. The W4 path does not call the reference body.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705C96-31E8-430F-B7D3-BBAE1B7C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57500"/>
            <a:ext cx="2476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06328C-818E-4DA5-B9F4-1C2A1987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9085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4. Runtime graph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C9C8FE-5772-4E61-BA4D-C8614790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71850"/>
            <a:ext cx="2171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CustomModel loads layers, runs prefill/decode, records per-kernel wall clock, and returns real logits.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156A4C-47AF-4D29-8D25-BA91942A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Main shapes exercised: 4096 x 4096, 12288 x 4096, 4096 x 12288, grouped K/V projection shapes, and 248320 x 4096 lm_head.</a:t>
            </a:r>
          </a:p>
        </p:txBody>
      </p:sp>
    </p:spTree>
    <p:extLst>
      <p:ext uri="{BB962C8B-B14F-4D97-AF65-F5344CB8AC3E}">
        <p14:creationId xmlns:p14="http://schemas.microsoft.com/office/powerpoint/2010/main" val="9006668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2872DA-97DF-48A1-B63C-D1A94AE8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KERNEL CODE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AE9235-0532-4D57-9A87-07299E34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619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2C041-8DE6-4002-94E6-FE79AC9C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93BB6F-AC84-4944-AB8D-79F16736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The final decode loop replaces the requested operator families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3097BD-E5E2-4DCB-9B35-78D1733E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476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58E59A-2DC2-41CA-B843-D88B7588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309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Full-attention layers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F595D1-6A7D-4054-9787-4D9A0AEA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W4A16 q/k/v/o projections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2BD8F-C15E-4B7B-9939-CE2F16BB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62300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q_norm and k_norm where present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A95EC-CCE5-428D-AEA7-6A3B3B73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00450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RoPE at the absolute position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ED8428-7A90-4EDB-BB4C-4F889017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38600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K/V append, GQA scores, stable softmax, V reduce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C8444-8F23-4BCD-86A6-79B2C0B0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95500"/>
            <a:ext cx="3476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B8C56B-68C3-4D99-B96C-87B8F741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66950"/>
            <a:ext cx="309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Linear-attention layers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DDFDF2-6044-41AF-8EA8-7985E405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724150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W4A16 in_proj_a/b/qkv/z/out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8139D4-CD33-4C76-88CE-73FA5CD8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162300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Conv1d state over exported weights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848DD9-C102-435A-9B5B-99AA94E4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600450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A_log and dt_bias recurrent update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BE7502-68C5-4B1B-9E92-29275A06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038600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State maintained through prefill and decode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41473F-5849-4E3F-9391-8F8F9D63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3476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6410C8-00BF-412C-9232-800A8DA6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66950"/>
            <a:ext cx="309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Output path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627DCA-AF61-4882-8F39-9F6285E5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24150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Final RMSNorm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FAFE98-C805-48BE-9E53-6299D18D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62300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Packed W4A16 lm_head logits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9034BB-9533-4AA8-8EE1-30AA7436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00450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Greedy argmax sampling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66F2FA-0DCC-414B-B5C7-26445E68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38600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No hash-based token fallback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2A0AE9-AD2E-4B56-B214-B3DB5257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578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Trace proof includes attention_score_custom, attention_softmax_custom, linear_attention_state_update_custom, lm_head_custom, and sampling_greedy_custom.</a:t>
            </a:r>
          </a:p>
        </p:txBody>
      </p:sp>
    </p:spTree>
    <p:extLst>
      <p:ext uri="{BB962C8B-B14F-4D97-AF65-F5344CB8AC3E}">
        <p14:creationId xmlns:p14="http://schemas.microsoft.com/office/powerpoint/2010/main" val="9244408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07BF9F-BE9C-4DC8-9978-AA755F2A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CONNECTORS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96341-8C93-4E0B-B6A3-BA57C6B0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619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107EE-5C67-45BB-A7E6-641ABA96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9896E-D9D3-4607-82E2-6E6986CE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The connectors separate baseline, compatibility, measurement, and artifact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1E405-378F-4DF5-8502-C0BC45C2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38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F2C000-905C-4625-B233-291F7A2A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MNN connector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EC94EA-A12F-43D1-AB4A-B0E91E28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20764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Stock app creates MNN::Transformer::Llm and measures the baseline. Custom app uses MNN only for a separate hot-path trace.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90CA1E-6178-4A07-AF7E-1828CD9D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90750"/>
            <a:ext cx="238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2136EE-CA84-47A9-9B47-992BEDF2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241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Fallback connector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C0902A-C1E9-4FC2-A904-B6B363FF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05100"/>
            <a:ext cx="20764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Session still supports use_mnn_fallback != 0 for compatibility. The final measured run sets it to 0.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618F73-1FA1-422B-8565-8110C125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90750"/>
            <a:ext cx="238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A45ACD-8FCA-4805-A033-ECE6C5A8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JNI connector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57E91D-116D-49E7-902B-D69E5DD4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05100"/>
            <a:ext cx="20764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Stock and custom instrumentation tests pass the same prompt, max_new_tokens, warmup, and measured counts.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FD34B3-AE9C-41B4-AB38-9E3356B2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90750"/>
            <a:ext cx="238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E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0D74F1-12AF-4E2A-A76F-D59D0CC4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241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Device Farm connector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CE85FB-0D2D-40A9-8AA7-0CB61882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05100"/>
            <a:ext cx="20764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Bootstrap downloads split model parts, verifies SHA-256 on-device, runs instrumentation, and collects JSON artifacts.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576457-083F-496B-B145-D57FB13E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The final report ties these connectors to run ARNs, artifact paths, benchmark settings, and per-kernel wall clock rows.</a:t>
            </a:r>
          </a:p>
        </p:txBody>
      </p:sp>
    </p:spTree>
    <p:extLst>
      <p:ext uri="{BB962C8B-B14F-4D97-AF65-F5344CB8AC3E}">
        <p14:creationId xmlns:p14="http://schemas.microsoft.com/office/powerpoint/2010/main" val="790448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083038-4AFA-4EF3-86F9-7296A434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DEVICE FARM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B106A-61F3-45A0-BF37-0F8AA050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619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606B9-0D08-4BF6-81A7-F1EB4791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490950-B280-486D-8DC1-A0F8AFB5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Same-device evidence shows coverage, not speedup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167D7-D9E4-4B66-A0F7-ADB20C43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Samsung Galaxy S26 Ultra, Qwen3.5-9B, 512 prompt tokens, 256 generated tokens, CPU backend, greedy sampling, 1 warmup and 3 measured runs.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533400" y="2762250"/>
          <a:ext xmlns:a="http://schemas.openxmlformats.org/drawingml/2006/main" cx="49530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df3fd6c55f343d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30F754-1DF2-46B7-ABD8-E0412C04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561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DD1397-6841-4131-AF26-F6ADF981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03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Metric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FA19BA-B83B-4C30-ADBA-E58ECF38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03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Stock MNN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3F165D-FFEE-4849-B3E8-37A8426C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003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Customlib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AF31BB-5B52-489F-8B29-39AE036B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694E4C-29D9-492E-AB80-17F2184C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Prefill TPS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236E01-720C-428C-BB35-CFF4E71D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194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45.0960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151D-0AC1-49C8-B741-A30C1744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194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0.486717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5A26CB-F11A-4607-9B2D-708BAFB9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0B1EB9-587C-4009-B83C-4557EE76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Decode TPS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55A47A-68EC-4400-A1FC-623FEF4C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385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2.28587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85AFA9-FEB9-4CA2-9F30-39E34DF0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385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0.424895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8B1D2A-86F5-466C-9F3C-CA7AFCEF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425790-CEFB-4C0B-9DC1-CB807C84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576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Decode TPOT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EDD08E-63E5-429A-B078-B7449AB6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576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437.470 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C72343-67E6-4FE8-87D3-55E526E8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576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2353.52 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2B0A36-D8F4-4362-A36C-355088EB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0055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3DEAB9-AFF0-4758-82B3-0CA0D2BC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Custom / stock decode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AA508C-5ECA-4A66-A60A-FE6CC9DC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767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029AFA-B7B1-47A8-BB68-28896262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767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0.1859x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9C5F7F-5704-49E1-8469-24774AC7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5619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6424FE-F208-484B-92E8-310AA388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816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Stock MNN is 5.38x faster on decode TPS in the final run.</a:t>
            </a:r>
          </a:p>
        </p:txBody>
      </p:sp>
    </p:spTree>
    <p:extLst>
      <p:ext uri="{BB962C8B-B14F-4D97-AF65-F5344CB8AC3E}">
        <p14:creationId xmlns:p14="http://schemas.microsoft.com/office/powerpoint/2010/main" val="7963318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40A1C2-E611-4DD2-873E-512A71FC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FINAL VERDICT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80EE9-BA05-499E-9977-B129DFA0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619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71BE56-2FE6-4E42-807A-9DE5B034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91DEA-BD8D-46B7-BF67-03A68013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The deliverable is complete and honest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3335E-D1D9-426D-AB07-97063DB4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Requirement 1 is met by the final walkthrough of the kernel library and connectors. Requirement 2 is met by same-device stock-vs-custom TPS/TPOT plus per-kernel wall clock and MNN hot-path trace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6A2669-9B5E-49BD-A454-04EEFE9A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76426-D36B-4E56-A707-24AFAAA3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C91A6C-1C52-47B4-ADF8-17B5A609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19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Answer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99DA8D-E2C0-4815-AEE0-53C6E926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2DDE53-43FD-4AD2-8C0F-ED5B9A29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Faithful benchmark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8DAB55-4437-4BC9-ADAD-16C38927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19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YES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BE5BD0-244D-4F30-B0E9-2611C9E0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C4D796-32EB-4E10-9DF1-9A69DA31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Requirement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8A0DDC-2585-4A48-BD39-7CDCF635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19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YES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23BA04-42F8-40B9-819F-77FC8BB4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7F734E-B317-4746-8956-B32FAA0F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Requirement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70124E-C450-45CB-96B8-793E276D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419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YES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6BD7EC-C569-4A22-A6E6-BB443B09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434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C331C2-648E-49BF-828C-C9F9FC95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96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fallback_op_families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5F6BCE-5A0D-48B7-94AA-871DA991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19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[]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BD9F68-B584-4D6D-873D-2B560F7B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97FE59-3141-47EA-9A56-9A31A441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Speedup claim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310DC9-3B88-4949-B158-C6DBF21F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219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NO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29F0A7-B8C0-4559-853C-A03C100B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68580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983EA7-3A9B-4716-9597-20084B81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05150"/>
            <a:ext cx="27622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E"/>
          </a:solidFill>
          <a:ln xmlns:a="http://schemas.openxmlformats.org/drawingml/2006/main" w="9525">
            <a:solidFill>
              <a:srgbClr val="FFD2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6C994C-F1E2-4623-BB6E-9D5A8F4D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718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Next optimization targets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A7756F-EF67-4D78-8501-199FD2D1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86200"/>
            <a:ext cx="2190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Parallel prefill, threaded GEMV rows, batched lm_head, attention cache locality, and vectorized recurrent-state updates.</a:t>
            </a:r>
          </a:p>
        </p:txBody>
      </p:sp>
    </p:spTree>
    <p:extLst>
      <p:ext uri="{BB962C8B-B14F-4D97-AF65-F5344CB8AC3E}">
        <p14:creationId xmlns:p14="http://schemas.microsoft.com/office/powerpoint/2010/main" val="18753166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2026-07-05T03:01:01.2000000Z</dcterms:created>
  <dcterms:modified xsi:type="dcterms:W3CDTF">2026-07-05T03:01:01.2000000Z</dcterms:modified>
</coreProperties>
</file>