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97b97a1b7464c57" /><Relationship Type="http://schemas.openxmlformats.org/officeDocument/2006/relationships/extended-properties" Target="/docProps/app.xml" Id="R948a024d97214051" /><Relationship Type="http://schemas.openxmlformats.org/officeDocument/2006/relationships/officeDocument" Target="/ppt/presentation.xml" Id="Ra8aa1f219cf4456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ea1c9df6d15454c"/>
  </p:sldMasterIdLst>
  <p:notesMasterIdLst>
    <p:notesMasterId xmlns:r="http://schemas.openxmlformats.org/officeDocument/2006/relationships" r:id="R3b64d9e31ba4484d"/>
  </p:notesMasterIdLst>
  <p:sldIdLst>
    <p:sldId xmlns:r="http://schemas.openxmlformats.org/officeDocument/2006/relationships" id="256" r:id="R6fc8e56a683e4ca5"/>
    <p:sldId xmlns:r="http://schemas.openxmlformats.org/officeDocument/2006/relationships" id="257" r:id="R13766be32feb405e"/>
    <p:sldId xmlns:r="http://schemas.openxmlformats.org/officeDocument/2006/relationships" id="258" r:id="R2baa722de8cf4080"/>
    <p:sldId xmlns:r="http://schemas.openxmlformats.org/officeDocument/2006/relationships" id="259" r:id="R23c6ad71a9f84edb"/>
    <p:sldId xmlns:r="http://schemas.openxmlformats.org/officeDocument/2006/relationships" id="260" r:id="R4ccf7faef8804ba7"/>
    <p:sldId xmlns:r="http://schemas.openxmlformats.org/officeDocument/2006/relationships" id="261" r:id="R0eec240691c14008"/>
    <p:sldId xmlns:r="http://schemas.openxmlformats.org/officeDocument/2006/relationships" id="262" r:id="Rcc71ce7c83734fa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6ac31fa7f1a4cf0" /><Relationship Type="http://schemas.openxmlformats.org/officeDocument/2006/relationships/slideMaster" Target="/ppt/slideMasters/slideMaster1.xml" Id="R8ea1c9df6d15454c" /><Relationship Type="http://schemas.openxmlformats.org/officeDocument/2006/relationships/notesMaster" Target="/ppt/notesMasters/notesMaster1.xml" Id="R3b64d9e31ba4484d" /><Relationship Type="http://schemas.openxmlformats.org/officeDocument/2006/relationships/presProps" Target="/ppt/presProps.xml" Id="R6f477f2f3ee24278" /><Relationship Type="http://schemas.openxmlformats.org/officeDocument/2006/relationships/tableStyles" Target="/ppt/tableStyles.xml" Id="R6132a5d752444b2e" /><Relationship Type="http://schemas.openxmlformats.org/officeDocument/2006/relationships/slide" Target="/ppt/slides/slide1.xml" Id="R6fc8e56a683e4ca5" /><Relationship Type="http://schemas.openxmlformats.org/officeDocument/2006/relationships/slide" Target="/ppt/slides/slide2.xml" Id="R13766be32feb405e" /><Relationship Type="http://schemas.openxmlformats.org/officeDocument/2006/relationships/slide" Target="/ppt/slides/slide3.xml" Id="R2baa722de8cf4080" /><Relationship Type="http://schemas.openxmlformats.org/officeDocument/2006/relationships/slide" Target="/ppt/slides/slide4.xml" Id="R23c6ad71a9f84edb" /><Relationship Type="http://schemas.openxmlformats.org/officeDocument/2006/relationships/slide" Target="/ppt/slides/slide5.xml" Id="R4ccf7faef8804ba7" /><Relationship Type="http://schemas.openxmlformats.org/officeDocument/2006/relationships/slide" Target="/ppt/slides/slide6.xml" Id="R0eec240691c14008" /><Relationship Type="http://schemas.openxmlformats.org/officeDocument/2006/relationships/slide" Target="/ppt/slides/slide7.xml" Id="Rcc71ce7c83734fa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d05bea900924ec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6baff2636bd4c37" /><Relationship Type="http://schemas.openxmlformats.org/officeDocument/2006/relationships/notesMaster" Target="/ppt/notesMasters/notesMaster1.xml" Id="Rf7e566542f7f435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3fb5887a11a4160" /><Relationship Type="http://schemas.openxmlformats.org/officeDocument/2006/relationships/notesMaster" Target="/ppt/notesMasters/notesMaster1.xml" Id="Rfa0169854ac44c8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6a54b8706cd4c39" /><Relationship Type="http://schemas.openxmlformats.org/officeDocument/2006/relationships/notesMaster" Target="/ppt/notesMasters/notesMaster1.xml" Id="Rc17bebbb573b49e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48b3afcce6a4d6f" /><Relationship Type="http://schemas.openxmlformats.org/officeDocument/2006/relationships/notesMaster" Target="/ppt/notesMasters/notesMaster1.xml" Id="Rb05f93250e90492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7bf218fcf96484d" /><Relationship Type="http://schemas.openxmlformats.org/officeDocument/2006/relationships/notesMaster" Target="/ppt/notesMasters/notesMaster1.xml" Id="Re06dddbe81c9490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6e6df15682945d6" /><Relationship Type="http://schemas.openxmlformats.org/officeDocument/2006/relationships/notesMaster" Target="/ppt/notesMasters/notesMaster1.xml" Id="Rd0ed1b389d7b4ba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308ff42d90f48ee" /><Relationship Type="http://schemas.openxmlformats.org/officeDocument/2006/relationships/notesMaster" Target="/ppt/notesMasters/notesMaster1.xml" Id="R2e7aa40bbae8438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c55985083b45b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4ce4a3508a046dd" /><Relationship Type="http://schemas.openxmlformats.org/officeDocument/2006/relationships/slideLayout" Target="/ppt/slideLayouts/slideLayout1.xml" Id="Rb078755e838f4c0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078755e838f4c0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0b6cb0a148412c" /><Relationship Type="http://schemas.openxmlformats.org/officeDocument/2006/relationships/notesSlide" Target="/ppt/notesSlides/notesSlide1.xml" Id="R0b9eb48aabb3474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67d1280a6a47d7" /><Relationship Type="http://schemas.openxmlformats.org/officeDocument/2006/relationships/notesSlide" Target="/ppt/notesSlides/notesSlide2.xml" Id="R5397063ae707427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14591fe2304967" /><Relationship Type="http://schemas.openxmlformats.org/officeDocument/2006/relationships/notesSlide" Target="/ppt/notesSlides/notesSlide3.xml" Id="R0ad442b227d941c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f8239f4147446d" /><Relationship Type="http://schemas.openxmlformats.org/officeDocument/2006/relationships/notesSlide" Target="/ppt/notesSlides/notesSlide4.xml" Id="Rba45814b6dff415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798e709d98475a" /><Relationship Type="http://schemas.openxmlformats.org/officeDocument/2006/relationships/notesSlide" Target="/ppt/notesSlides/notesSlide5.xml" Id="Rdf20a8dbcb6745e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2d4222216f4816" /><Relationship Type="http://schemas.openxmlformats.org/officeDocument/2006/relationships/notesSlide" Target="/ppt/notesSlides/notesSlide6.xml" Id="R761d9891564e442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31dbb4eeee4ab9" /><Relationship Type="http://schemas.openxmlformats.org/officeDocument/2006/relationships/notesSlide" Target="/ppt/notesSlides/notesSlide7.xml" Id="R4c8cc392373a4dd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3B2616F-4D07-4AA7-BA6D-6B44DFEB6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38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020618"/>
                </a:solidFill>
              </a:defRPr>
            </a:pPr>
            <a:r>
              <a:rPr sz="3750" b="1">
                <a:solidFill>
                  <a:srgbClr val="020618"/>
                </a:solidFill>
              </a:rPr>
              <a:t>Qwen3.5-9B Custom Inference Library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0FE452-6515-4ABE-A53A-8087590A0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45556C"/>
                </a:solidFill>
              </a:defRPr>
            </a:pPr>
            <a:r>
              <a:rPr sz="1950" b="0">
                <a:solidFill>
                  <a:srgbClr val="45556C"/>
                </a:solidFill>
              </a:rPr>
              <a:t>Final v18r2 optimization pass on AWS Device Farm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CCEF14-23D1-42B7-8FD2-271B01B6D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23812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368B6F-C78C-4D0A-A01B-3E6B963AB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241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5556C"/>
                </a:solidFill>
              </a:defRPr>
            </a:pPr>
            <a:r>
              <a:rPr sz="1275" b="1">
                <a:solidFill>
                  <a:srgbClr val="45556C"/>
                </a:solidFill>
              </a:rPr>
              <a:t>Custom v18r2 decode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3A700F-0CAA-46F3-9F9D-7DE6C5464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908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9966"/>
                </a:solidFill>
              </a:defRPr>
            </a:pPr>
            <a:r>
              <a:rPr sz="2550" b="1">
                <a:solidFill>
                  <a:srgbClr val="009966"/>
                </a:solidFill>
              </a:rPr>
              <a:t>2.14021 TPS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8237C7-0ED7-487E-9208-43BF3CC79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671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5556C"/>
                </a:solidFill>
              </a:defRPr>
            </a:pPr>
            <a:r>
              <a:rPr sz="1200" b="0">
                <a:solidFill>
                  <a:srgbClr val="45556C"/>
                </a:solidFill>
              </a:rPr>
              <a:t>467.244 ms TPOT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50B6F1-2022-483D-969F-869C0EA3C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571750"/>
            <a:ext cx="23812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6E9597-E779-42A3-AB1A-CC9F5C3D5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7241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5556C"/>
                </a:solidFill>
              </a:defRPr>
            </a:pPr>
            <a:r>
              <a:rPr sz="1275" b="1">
                <a:solidFill>
                  <a:srgbClr val="45556C"/>
                </a:solidFill>
              </a:rPr>
              <a:t>Stock MNN CPU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370971-6686-44DF-8C09-2443C90D8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9908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84D1"/>
                </a:solidFill>
              </a:defRPr>
            </a:pPr>
            <a:r>
              <a:rPr sz="2550" b="1">
                <a:solidFill>
                  <a:srgbClr val="0084D1"/>
                </a:solidFill>
              </a:rPr>
              <a:t>2.27746 TPS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8B3380-0719-4D8A-ACB1-BD5D4962E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4671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5556C"/>
                </a:solidFill>
              </a:defRPr>
            </a:pPr>
            <a:r>
              <a:rPr sz="1200" b="0">
                <a:solidFill>
                  <a:srgbClr val="45556C"/>
                </a:solidFill>
              </a:rPr>
              <a:t>439.086 ms TPOT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AF07A3-A314-4744-B0F1-16580B4CB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571750"/>
            <a:ext cx="23812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863264-A63B-49B3-B1D6-351EF1065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241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5556C"/>
                </a:solidFill>
              </a:defRPr>
            </a:pPr>
            <a:r>
              <a:rPr sz="1275" b="1">
                <a:solidFill>
                  <a:srgbClr val="45556C"/>
                </a:solidFill>
              </a:rPr>
              <a:t>Custom / stock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434366-95E1-4E79-8130-2D579B726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908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E9A00"/>
                </a:solidFill>
              </a:defRPr>
            </a:pPr>
            <a:r>
              <a:rPr sz="2550" b="1">
                <a:solidFill>
                  <a:srgbClr val="FE9A00"/>
                </a:solidFill>
              </a:rPr>
              <a:t>0.9397x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9E655D-4156-4200-8DFE-1467011F5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4671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5556C"/>
                </a:solidFill>
              </a:defRPr>
            </a:pPr>
            <a:r>
              <a:rPr sz="1200" b="0">
                <a:solidFill>
                  <a:srgbClr val="45556C"/>
                </a:solidFill>
              </a:rPr>
              <a:t>no speedup claimed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993FFC-2D9D-4814-A2C2-4CB292735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885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20618"/>
                </a:solidFill>
              </a:defRPr>
            </a:pPr>
            <a:r>
              <a:rPr sz="1875" b="1">
                <a:solidFill>
                  <a:srgbClr val="020618"/>
                </a:solidFill>
              </a:rPr>
              <a:t>The custom path is now faster than v17 by 10.65%, but stock MNN still wins on CPU.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3AA409-42AF-498E-8D46-D2C400A33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20618"/>
                </a:solidFill>
              </a:defRPr>
            </a:pPr>
            <a:r>
              <a:rPr sz="1350" b="0">
                <a:solidFill>
                  <a:srgbClr val="020618"/>
                </a:solidFill>
              </a:rPr>
              <a:t>- Full custom decode/prefill: no MNN::Llm::response in measured generation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EA7C68-71B7-4F35-862C-F384FC117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53050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20618"/>
                </a:solidFill>
              </a:defRPr>
            </a:pPr>
            <a:r>
              <a:rPr sz="1350" b="0">
                <a:solidFill>
                  <a:srgbClr val="020618"/>
                </a:solidFill>
              </a:rPr>
              <a:t>- fallback_op_families = [] and full_custom_decode = true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D038C9-0AE0-4536-9C38-0854DEE77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748E"/>
                </a:solidFill>
              </a:defRPr>
            </a:pPr>
            <a:r>
              <a:rPr sz="1050" b="0">
                <a:solidFill>
                  <a:srgbClr val="62748E"/>
                </a:solidFill>
              </a:rPr>
              <a:t>Device Farm evidence-backed final / slide 1</a:t>
            </a:r>
          </a:p>
        </p:txBody>
      </p:sp>
    </p:spTree>
    <p:extLst>
      <p:ext uri="{BB962C8B-B14F-4D97-AF65-F5344CB8AC3E}">
        <p14:creationId xmlns:p14="http://schemas.microsoft.com/office/powerpoint/2010/main" val="65418325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C0E6B2A-A205-4914-A740-7F76402B4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9966"/>
                </a:solidFill>
              </a:defRPr>
            </a:pPr>
            <a:r>
              <a:rPr sz="1200" b="1">
                <a:solidFill>
                  <a:srgbClr val="009966"/>
                </a:solidFill>
              </a:rPr>
              <a:t>QWEN3.5-9B CUSTOM INFERENCE LIBRARY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48D620-F54A-48CC-8A96-63FA0FFEA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20618"/>
                </a:solidFill>
              </a:defRPr>
            </a:pPr>
            <a:r>
              <a:rPr sz="2850" b="1">
                <a:solidFill>
                  <a:srgbClr val="020618"/>
                </a:solidFill>
              </a:rPr>
              <a:t>The comparison uses the same phone, model, prompt, and settings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E8E13F-2D52-4BFD-A9E5-1978D5BED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038BD2-2605-4B92-AE3D-68F28F253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8204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2136F9-F0EA-4446-B7A7-E63278677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859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84D1"/>
                </a:solidFill>
              </a:defRPr>
            </a:pPr>
            <a:r>
              <a:rPr sz="1500" b="1">
                <a:solidFill>
                  <a:srgbClr val="0084D1"/>
                </a:solidFill>
              </a:rPr>
              <a:t>Device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EB3070-D5CD-44EB-8D05-03BA5423E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857375"/>
            <a:ext cx="828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20618"/>
                </a:solidFill>
              </a:defRPr>
            </a:pPr>
            <a:r>
              <a:rPr sz="1500" b="0">
                <a:solidFill>
                  <a:srgbClr val="020618"/>
                </a:solidFill>
              </a:rPr>
              <a:t>AWS Device Farm Samsung Galaxy S26 Ultra, SM-S948U1, Android 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858F84-F9A6-4E1D-B49F-E9A90BC87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108204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31C0A8-A7FF-4EB1-A851-AD7485FAD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670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84D1"/>
                </a:solidFill>
              </a:defRPr>
            </a:pPr>
            <a:r>
              <a:rPr sz="1500" b="1">
                <a:solidFill>
                  <a:srgbClr val="0084D1"/>
                </a:solidFill>
              </a:rPr>
              <a:t>Model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967AA0-B5EA-4A17-B6A6-84EA0CC06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638425"/>
            <a:ext cx="828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20618"/>
                </a:solidFill>
              </a:defRPr>
            </a:pPr>
            <a:r>
              <a:rPr sz="1500" b="0">
                <a:solidFill>
                  <a:srgbClr val="020618"/>
                </a:solidFill>
              </a:rPr>
              <a:t>Qwen/Qwen3.5-9B, revision c202236235762e1c871ad0ccb60c8ee5ba337b9a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F9AD05-DD3B-434E-B67A-E0AE0CA80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108204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E01EF0-0175-4809-9552-946099559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480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84D1"/>
                </a:solidFill>
              </a:defRPr>
            </a:pPr>
            <a:r>
              <a:rPr sz="1500" b="1">
                <a:solidFill>
                  <a:srgbClr val="0084D1"/>
                </a:solidFill>
              </a:rPr>
              <a:t>Package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470F2C-23B7-419F-A583-341ADF730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419475"/>
            <a:ext cx="828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20618"/>
                </a:solidFill>
              </a:defRPr>
            </a:pPr>
            <a:r>
              <a:rPr sz="1500" b="0">
                <a:solidFill>
                  <a:srgbClr val="020618"/>
                </a:solidFill>
              </a:rPr>
              <a:t>W4A16 groupwise, SHA-256 9de692be...bfaa34, 11.27GB split into 3 parts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56F61D-310F-4E50-A29C-2092B0AC5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108204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431501-3F5A-4ADD-B072-015CF1299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291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84D1"/>
                </a:solidFill>
              </a:defRPr>
            </a:pPr>
            <a:r>
              <a:rPr sz="1500" b="1">
                <a:solidFill>
                  <a:srgbClr val="0084D1"/>
                </a:solidFill>
              </a:rPr>
              <a:t>Generation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47F9FF-E6BD-45B9-9751-5114AB020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200525"/>
            <a:ext cx="828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20618"/>
                </a:solidFill>
              </a:defRPr>
            </a:pPr>
            <a:r>
              <a:rPr sz="1500" b="0">
                <a:solidFill>
                  <a:srgbClr val="020618"/>
                </a:solidFill>
              </a:rPr>
              <a:t>512 prompt tokens, 256 max_new_tokens, greedy, temperature 0, top_k 1, top_p 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1946AC-E094-421D-9136-2E9AAF3A4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108204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965D76-235E-4698-AB8D-45FA81F23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101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84D1"/>
                </a:solidFill>
              </a:defRPr>
            </a:pPr>
            <a:r>
              <a:rPr sz="1500" b="1">
                <a:solidFill>
                  <a:srgbClr val="0084D1"/>
                </a:solidFill>
              </a:rPr>
              <a:t>Measurement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B7E3CB-A1A3-4401-8592-99DB9B176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981575"/>
            <a:ext cx="828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20618"/>
                </a:solidFill>
              </a:defRPr>
            </a:pPr>
            <a:r>
              <a:rPr sz="1500" b="0">
                <a:solidFill>
                  <a:srgbClr val="020618"/>
                </a:solidFill>
              </a:rPr>
              <a:t>1 warmup plus 3 measured iterations, BENCH_RESULT_JSON artifact retained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F9C058-E4EA-4B3C-A348-DB278702D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748E"/>
                </a:solidFill>
              </a:defRPr>
            </a:pPr>
            <a:r>
              <a:rPr sz="1050" b="0">
                <a:solidFill>
                  <a:srgbClr val="62748E"/>
                </a:solidFill>
              </a:rPr>
              <a:t>Device Farm evidence-backed final / slide 2</a:t>
            </a:r>
          </a:p>
        </p:txBody>
      </p:sp>
    </p:spTree>
    <p:extLst>
      <p:ext uri="{BB962C8B-B14F-4D97-AF65-F5344CB8AC3E}">
        <p14:creationId xmlns:p14="http://schemas.microsoft.com/office/powerpoint/2010/main" val="26586164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9D46B82-BF3B-4A2A-9B9E-E7E53242D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9966"/>
                </a:solidFill>
              </a:defRPr>
            </a:pPr>
            <a:r>
              <a:rPr sz="1200" b="1">
                <a:solidFill>
                  <a:srgbClr val="009966"/>
                </a:solidFill>
              </a:rPr>
              <a:t>QWEN3.5-9B CUSTOM INFERENCE LIBRARY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CCC2DB-AEDC-4ADE-86F2-B68F33541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20618"/>
                </a:solidFill>
              </a:defRPr>
            </a:pPr>
            <a:r>
              <a:rPr sz="2850" b="1">
                <a:solidFill>
                  <a:srgbClr val="020618"/>
                </a:solidFill>
              </a:rPr>
              <a:t>v18r2 improves the custom path but does not beat MNN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E4E1E6-155F-41C5-89A7-DD0831090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969B62-FC80-4132-BED1-2FDF83581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20618"/>
                </a:solidFill>
              </a:defRPr>
            </a:pPr>
            <a:r>
              <a:rPr sz="1350" b="1">
                <a:solidFill>
                  <a:srgbClr val="020618"/>
                </a:solidFill>
              </a:rPr>
              <a:t>Stock MNN CPU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E9682F-FBB3-47BE-A71F-D9C2D710C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90500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207167-70BF-4759-9F53-1173FB3BA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905000"/>
            <a:ext cx="506165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4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BB5677-E976-4689-AD8C-BBA742EEA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857375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20618"/>
                </a:solidFill>
              </a:defRPr>
            </a:pPr>
            <a:r>
              <a:rPr sz="1350" b="1">
                <a:solidFill>
                  <a:srgbClr val="020618"/>
                </a:solidFill>
              </a:rPr>
              <a:t>2.27746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7498D2-40E2-4E3B-BB30-D177F7B71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20618"/>
                </a:solidFill>
              </a:defRPr>
            </a:pPr>
            <a:r>
              <a:rPr sz="1350" b="1">
                <a:solidFill>
                  <a:srgbClr val="020618"/>
                </a:solidFill>
              </a:rPr>
              <a:t>Custom v17 best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5B913F-6D2B-4F5B-9A20-016C03CCF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59080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B449FB-9DA7-4578-B184-BBCCEC625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590800"/>
            <a:ext cx="4298693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74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EE239F-CDCE-4A47-8FD7-45F4C0D60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543175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20618"/>
                </a:solidFill>
              </a:defRPr>
            </a:pPr>
            <a:r>
              <a:rPr sz="1350" b="1">
                <a:solidFill>
                  <a:srgbClr val="020618"/>
                </a:solidFill>
              </a:rPr>
              <a:t>1.93417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20D03C-21F0-4D51-BB98-5DC5BF135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20618"/>
                </a:solidFill>
              </a:defRPr>
            </a:pPr>
            <a:r>
              <a:rPr sz="1350" b="1">
                <a:solidFill>
                  <a:srgbClr val="020618"/>
                </a:solidFill>
              </a:rPr>
              <a:t>Custom v18r2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20DB2A-2A08-488A-8F3A-3C3253AC6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27660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AC55E0-C276-4939-8783-22CE778AC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276600"/>
            <a:ext cx="4756617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9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4D819B-BF55-4675-AB1B-735EDAE54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228975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20618"/>
                </a:solidFill>
              </a:defRPr>
            </a:pPr>
            <a:r>
              <a:rPr sz="1350" b="1">
                <a:solidFill>
                  <a:srgbClr val="020618"/>
                </a:solidFill>
              </a:rPr>
              <a:t>2.14021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0695D8-6C84-4919-A4B9-87695A6CC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5240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5556C"/>
                </a:solidFill>
              </a:defRPr>
            </a:pPr>
            <a:r>
              <a:rPr sz="1500" b="1">
                <a:solidFill>
                  <a:srgbClr val="45556C"/>
                </a:solidFill>
              </a:rPr>
              <a:t>Decode TPS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E7C84B-2CAA-4CA9-9E82-73DEFDBFA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23812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782593-F291-4F19-9A65-7EA2D2438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291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5556C"/>
                </a:solidFill>
              </a:defRPr>
            </a:pPr>
            <a:r>
              <a:rPr sz="1275" b="1">
                <a:solidFill>
                  <a:srgbClr val="45556C"/>
                </a:solidFill>
              </a:rPr>
              <a:t>v18r2 vs v17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C50FFE-6203-4F64-B529-FDDF0867C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958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9966"/>
                </a:solidFill>
              </a:defRPr>
            </a:pPr>
            <a:r>
              <a:rPr sz="2550" b="1">
                <a:solidFill>
                  <a:srgbClr val="009966"/>
                </a:solidFill>
              </a:rPr>
              <a:t>+10.65%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C016A9-9C8A-4FA0-9D06-595C850FA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721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5556C"/>
                </a:solidFill>
              </a:defRPr>
            </a:pPr>
            <a:r>
              <a:rPr sz="1200" b="0">
                <a:solidFill>
                  <a:srgbClr val="45556C"/>
                </a:solidFill>
              </a:rPr>
              <a:t>decode TPS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ED604A-0BC1-4C24-8CE0-C0972744B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476750"/>
            <a:ext cx="23812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268DE2-1771-4A50-B884-99E48812C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6291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5556C"/>
                </a:solidFill>
              </a:defRPr>
            </a:pPr>
            <a:r>
              <a:rPr sz="1275" b="1">
                <a:solidFill>
                  <a:srgbClr val="45556C"/>
                </a:solidFill>
              </a:rPr>
              <a:t>TPOT delta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84ADE1-24C0-4BF3-AC48-46EA769E5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8958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9966"/>
                </a:solidFill>
              </a:defRPr>
            </a:pPr>
            <a:r>
              <a:rPr sz="2550" b="1">
                <a:solidFill>
                  <a:srgbClr val="009966"/>
                </a:solidFill>
              </a:rPr>
              <a:t>-49.774 ms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E36E1E-7F57-4344-838D-EF1E52AFB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3721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5556C"/>
                </a:solidFill>
              </a:defRPr>
            </a:pPr>
            <a:r>
              <a:rPr sz="1200" b="0">
                <a:solidFill>
                  <a:srgbClr val="45556C"/>
                </a:solidFill>
              </a:rPr>
              <a:t>vs v17 best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64476E-173C-48BB-804B-D5C592AD9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476750"/>
            <a:ext cx="23812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8CC85C6-28E5-4398-A78B-AD2B8EB3A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6291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5556C"/>
                </a:solidFill>
              </a:defRPr>
            </a:pPr>
            <a:r>
              <a:rPr sz="1275" b="1">
                <a:solidFill>
                  <a:srgbClr val="45556C"/>
                </a:solidFill>
              </a:rPr>
              <a:t>Stock gap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E61CCD-3F52-4E3F-8808-55366B7AB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8958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E9A00"/>
                </a:solidFill>
              </a:defRPr>
            </a:pPr>
            <a:r>
              <a:rPr sz="2550" b="1">
                <a:solidFill>
                  <a:srgbClr val="FE9A00"/>
                </a:solidFill>
              </a:rPr>
              <a:t>-6.03%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CC23300-BAF6-494C-A79A-3D4F61267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3721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5556C"/>
                </a:solidFill>
              </a:defRPr>
            </a:pPr>
            <a:r>
              <a:rPr sz="1200" b="0">
                <a:solidFill>
                  <a:srgbClr val="45556C"/>
                </a:solidFill>
              </a:rPr>
              <a:t>decode TPS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0655A27-B31B-4385-B755-2E85C3A4A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748E"/>
                </a:solidFill>
              </a:defRPr>
            </a:pPr>
            <a:r>
              <a:rPr sz="1050" b="0">
                <a:solidFill>
                  <a:srgbClr val="62748E"/>
                </a:solidFill>
              </a:rPr>
              <a:t>Device Farm evidence-backed final / slide 3</a:t>
            </a:r>
          </a:p>
        </p:txBody>
      </p:sp>
    </p:spTree>
    <p:extLst>
      <p:ext uri="{BB962C8B-B14F-4D97-AF65-F5344CB8AC3E}">
        <p14:creationId xmlns:p14="http://schemas.microsoft.com/office/powerpoint/2010/main" val="196957611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0EA6420-C072-4EE8-8B8B-A958C9758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9966"/>
                </a:solidFill>
              </a:defRPr>
            </a:pPr>
            <a:r>
              <a:rPr sz="1200" b="1">
                <a:solidFill>
                  <a:srgbClr val="009966"/>
                </a:solidFill>
              </a:rPr>
              <a:t>QWEN3.5-9B CUSTOM INFERENCE LIBRARY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420FEF-1F63-46A7-A0BC-820CBE9A4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20618"/>
                </a:solidFill>
              </a:defRPr>
            </a:pPr>
            <a:r>
              <a:rPr sz="2850" b="1">
                <a:solidFill>
                  <a:srgbClr val="020618"/>
                </a:solidFill>
              </a:rPr>
              <a:t>The custom library owns generation; MNN remains only a baseline and debug trace source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D95200-7D05-4054-ABA3-619018498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FFC0A0-1C9C-4C7E-91D3-A9F411EB5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809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594F73-F98A-4EE0-87B7-A56BA2677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47900"/>
            <a:ext cx="1466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20618"/>
                </a:solidFill>
              </a:defRPr>
            </a:pPr>
            <a:r>
              <a:rPr sz="1500" b="1">
                <a:solidFill>
                  <a:srgbClr val="020618"/>
                </a:solidFill>
              </a:rPr>
              <a:t>JNI benchmark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38E9A8-3AC3-4060-96D0-D4C86C2B9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000250"/>
            <a:ext cx="1809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D00E5D-E284-4A89-9573-6DDE92E56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247900"/>
            <a:ext cx="1466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20618"/>
                </a:solidFill>
              </a:defRPr>
            </a:pPr>
            <a:r>
              <a:rPr sz="1500" b="1">
                <a:solidFill>
                  <a:srgbClr val="020618"/>
                </a:solidFill>
              </a:rPr>
              <a:t>C ABI xq_generate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E7782A-261F-4520-9F41-C88D4D7D4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000250"/>
            <a:ext cx="1809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6C3831-D177-4F6D-85CB-C6E25FCEB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247900"/>
            <a:ext cx="1466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20618"/>
                </a:solidFill>
              </a:defRPr>
            </a:pPr>
            <a:r>
              <a:rPr sz="1500" b="1">
                <a:solidFill>
                  <a:srgbClr val="020618"/>
                </a:solidFill>
              </a:rPr>
              <a:t>Session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A6089E-CE89-455C-B655-999BD6EF8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000250"/>
            <a:ext cx="1809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C114A0-C05F-489E-99EF-23FEC16EB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247900"/>
            <a:ext cx="1466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20618"/>
                </a:solidFill>
              </a:defRPr>
            </a:pPr>
            <a:r>
              <a:rPr sz="1500" b="1">
                <a:solidFill>
                  <a:srgbClr val="020618"/>
                </a:solidFill>
              </a:rPr>
              <a:t>CustomModel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549375-E2DD-4293-B37E-BF8DDE0C7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000250"/>
            <a:ext cx="1809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5EE9B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3F925A-F9A1-4D81-9AA9-12383CDFF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247900"/>
            <a:ext cx="1466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9966"/>
                </a:solidFill>
              </a:defRPr>
            </a:pPr>
            <a:r>
              <a:rPr sz="1500" b="1">
                <a:solidFill>
                  <a:srgbClr val="009966"/>
                </a:solidFill>
              </a:rPr>
              <a:t>Generated kernels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9F02A6-76B2-41E1-83DC-39E4A0BD8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49555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A1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C4F81D-513A-4C5C-B8E7-744904473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409825"/>
            <a:ext cx="190500" cy="2095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90A1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5FEE83-8467-41E5-96E8-11B55E68E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49555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A1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B463FB-D8CF-4C5E-A085-B320ADFF7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2409825"/>
            <a:ext cx="190500" cy="2095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90A1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BE5456-BD21-4C87-B2D7-FCA5ECC4E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49555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A1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BA8D26-E60E-4F9B-B061-DE1BD25AF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409825"/>
            <a:ext cx="190500" cy="2095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90A1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806E82-5C28-4DA9-9547-E34E6096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49555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A1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C8DBF6-A9DE-4475-9DBF-23DDC9394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2409825"/>
            <a:ext cx="190500" cy="2095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90A1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7193BE-B6A4-40B6-BF2B-5889B8F34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20618"/>
                </a:solidFill>
              </a:defRPr>
            </a:pPr>
            <a:r>
              <a:rPr sz="1350" b="0">
                <a:solidFill>
                  <a:srgbClr val="020618"/>
                </a:solidFill>
              </a:rPr>
              <a:t>- Measured path: CustomModel::prefill -&gt; runLayer -&gt; decodeOne -&gt; sampleGreedy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A5E377-B611-4721-B570-B8FE0C46E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20618"/>
                </a:solidFill>
              </a:defRPr>
            </a:pPr>
            <a:r>
              <a:rPr sz="1350" b="0">
                <a:solidFill>
                  <a:srgbClr val="020618"/>
                </a:solidFill>
              </a:rPr>
              <a:t>- Fallback connector still exists, but v18r2 JSON has use_mnn_fallback = 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D61402-A616-4728-B49C-5DB19768E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20618"/>
                </a:solidFill>
              </a:defRPr>
            </a:pPr>
            <a:r>
              <a:rPr sz="1350" b="0">
                <a:solidFill>
                  <a:srgbClr val="020618"/>
                </a:solidFill>
              </a:rPr>
              <a:t>- MNN hot-path trace runs after measured custom generation for comparison evidence only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57DD04-1DC4-4061-B26C-8B0952F63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748E"/>
                </a:solidFill>
              </a:defRPr>
            </a:pPr>
            <a:r>
              <a:rPr sz="1050" b="0">
                <a:solidFill>
                  <a:srgbClr val="62748E"/>
                </a:solidFill>
              </a:rPr>
              <a:t>Device Farm evidence-backed final / slide 4</a:t>
            </a:r>
          </a:p>
        </p:txBody>
      </p:sp>
    </p:spTree>
    <p:extLst>
      <p:ext uri="{BB962C8B-B14F-4D97-AF65-F5344CB8AC3E}">
        <p14:creationId xmlns:p14="http://schemas.microsoft.com/office/powerpoint/2010/main" val="52222765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2473C5F-3A36-4728-8C23-E1F27F7E0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9966"/>
                </a:solidFill>
              </a:defRPr>
            </a:pPr>
            <a:r>
              <a:rPr sz="1200" b="1">
                <a:solidFill>
                  <a:srgbClr val="009966"/>
                </a:solidFill>
              </a:rPr>
              <a:t>QWEN3.5-9B CUSTOM INFERENCE LIBRARY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37A681-EC4F-4189-962B-F6FE61870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20618"/>
                </a:solidFill>
              </a:defRPr>
            </a:pPr>
            <a:r>
              <a:rPr sz="2850" b="1">
                <a:solidFill>
                  <a:srgbClr val="020618"/>
                </a:solidFill>
              </a:rPr>
              <a:t>Generated W4A16 kernels drive the decode linear hot path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588902-355D-491E-902D-BBA578BC7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00B819-5B79-41B1-BAE2-CB10985A2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95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EFC195-D7CD-4A63-B1A1-69C4264EF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621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20618"/>
                </a:solidFill>
              </a:defRPr>
            </a:pPr>
            <a:r>
              <a:rPr sz="1500" b="1">
                <a:solidFill>
                  <a:srgbClr val="020618"/>
                </a:solidFill>
              </a:rPr>
              <a:t>q/k/v/o projections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DD8481-69FA-4144-8B57-7D6AA65F4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4095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650C71-5DAD-44D0-80C4-811DA3289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860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20618"/>
                </a:solidFill>
              </a:defRPr>
            </a:pPr>
            <a:r>
              <a:rPr sz="1500" b="1">
                <a:solidFill>
                  <a:srgbClr val="020618"/>
                </a:solidFill>
              </a:rPr>
              <a:t>gate/up/down FFN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548AAC-E165-462F-99BD-3B783D040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4095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CF6D4A-BC7E-4FDF-AA94-4CC14F104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099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20618"/>
                </a:solidFill>
              </a:defRPr>
            </a:pPr>
            <a:r>
              <a:rPr sz="1500" b="1">
                <a:solidFill>
                  <a:srgbClr val="020618"/>
                </a:solidFill>
              </a:rPr>
              <a:t>linear-attention projections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DFD9E6-52DB-47AA-B4C1-2F7002D95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4095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FE3B1F-AE7C-44AC-B174-B49FA60D9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338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20618"/>
                </a:solidFill>
              </a:defRPr>
            </a:pPr>
            <a:r>
              <a:rPr sz="1500" b="1">
                <a:solidFill>
                  <a:srgbClr val="020618"/>
                </a:solidFill>
              </a:rPr>
              <a:t>lm_head streaming argmax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762B74-18A6-4C30-A262-C230C8455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809750"/>
            <a:ext cx="390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9966"/>
                </a:solidFill>
              </a:defRPr>
            </a:pPr>
            <a:r>
              <a:rPr sz="2250" b="1">
                <a:solidFill>
                  <a:srgbClr val="009966"/>
                </a:solidFill>
              </a:rPr>
              <a:t>W4A16 GEMV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001C1E-0318-4D02-83A7-0F55CA74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3812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20618"/>
                </a:solidFill>
              </a:defRPr>
            </a:pPr>
            <a:r>
              <a:rPr sz="1350" b="0">
                <a:solidFill>
                  <a:srgbClr val="020618"/>
                </a:solidFill>
              </a:rPr>
              <a:t>- Generated tiled fused dequant + GEMV, not gemvLowBitReference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5C249C-814B-457A-834C-5BAA80AC6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8003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20618"/>
                </a:solidFill>
              </a:defRPr>
            </a:pPr>
            <a:r>
              <a:rPr sz="1350" b="0">
                <a:solidFill>
                  <a:srgbClr val="020618"/>
                </a:solidFill>
              </a:rPr>
              <a:t>- Persistent worker threads avoid per-kernel thread creation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B32049-75A9-4906-945A-71964058F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2194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20618"/>
                </a:solidFill>
              </a:defRPr>
            </a:pPr>
            <a:r>
              <a:rPr sz="1350" b="0">
                <a:solidFill>
                  <a:srgbClr val="020618"/>
                </a:solidFill>
              </a:rPr>
              <a:t>- Activation group sums are reused across rows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C72F18-DEB9-48DB-BE7F-DFDC9121C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6385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20618"/>
                </a:solidFill>
              </a:defRPr>
            </a:pPr>
            <a:r>
              <a:rPr sz="1350" b="0">
                <a:solidFill>
                  <a:srgbClr val="020618"/>
                </a:solidFill>
              </a:rPr>
              <a:t>- v18r2 reuses embedding, attention, FFN, and KV buffers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86EB52-6F78-410E-B8A7-BCC22D361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748E"/>
                </a:solidFill>
              </a:defRPr>
            </a:pPr>
            <a:r>
              <a:rPr sz="1050" b="0">
                <a:solidFill>
                  <a:srgbClr val="62748E"/>
                </a:solidFill>
              </a:rPr>
              <a:t>Device Farm evidence-backed final / slide 5</a:t>
            </a:r>
          </a:p>
        </p:txBody>
      </p:sp>
    </p:spTree>
    <p:extLst>
      <p:ext uri="{BB962C8B-B14F-4D97-AF65-F5344CB8AC3E}">
        <p14:creationId xmlns:p14="http://schemas.microsoft.com/office/powerpoint/2010/main" val="129701767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292AA07-BABF-4AA0-9306-86C4C37AF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9966"/>
                </a:solidFill>
              </a:defRPr>
            </a:pPr>
            <a:r>
              <a:rPr sz="1200" b="1">
                <a:solidFill>
                  <a:srgbClr val="009966"/>
                </a:solidFill>
              </a:rPr>
              <a:t>QWEN3.5-9B CUSTOM INFERENCE LIBRARY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5FAE06-9D6C-4A6A-B6FC-736C9E6BB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20618"/>
                </a:solidFill>
              </a:defRPr>
            </a:pPr>
            <a:r>
              <a:rPr sz="2850" b="1">
                <a:solidFill>
                  <a:srgbClr val="020618"/>
                </a:solidFill>
              </a:rPr>
              <a:t>Per-kernel wall clock shows the remaining custom bottlenecks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82DEBD-5DF7-4B17-8E49-06CC8CD1B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CE7E17-DD3B-4BBF-8606-5F706B6C9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5556C"/>
                </a:solidFill>
              </a:defRPr>
            </a:pPr>
            <a:r>
              <a:rPr sz="1350" b="1">
                <a:solidFill>
                  <a:srgbClr val="45556C"/>
                </a:solidFill>
              </a:rPr>
              <a:t>Custom kernel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CBC22F-20F0-4BEE-9387-E97C4528B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6764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5556C"/>
                </a:solidFill>
              </a:defRPr>
            </a:pPr>
            <a:r>
              <a:rPr sz="1350" b="1">
                <a:solidFill>
                  <a:srgbClr val="45556C"/>
                </a:solidFill>
              </a:rPr>
              <a:t>Total wall clock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1F7302-6741-4EDF-BDA8-D86A69CD6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6764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5556C"/>
                </a:solidFill>
              </a:defRPr>
            </a:pPr>
            <a:r>
              <a:rPr sz="1350" b="1">
                <a:solidFill>
                  <a:srgbClr val="45556C"/>
                </a:solidFill>
              </a:rPr>
              <a:t>Calls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CD7BD4-23E6-4458-A954-AE08F19F0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8204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86F88D-2A84-451F-9E0F-1621D81AB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764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20618"/>
                </a:solidFill>
              </a:defRPr>
            </a:pPr>
            <a:r>
              <a:rPr sz="1350" b="1">
                <a:solidFill>
                  <a:srgbClr val="020618"/>
                </a:solidFill>
              </a:rPr>
              <a:t>prefill_token_custom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CB0A25-6BBE-4C6A-97A7-D02B2503D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0764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20618"/>
                </a:solidFill>
              </a:defRPr>
            </a:pPr>
            <a:r>
              <a:rPr sz="1350" b="0">
                <a:solidFill>
                  <a:srgbClr val="020618"/>
                </a:solidFill>
              </a:rPr>
              <a:t>208,875 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A9FE86-B9DF-42AB-A1B4-076D85022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764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20618"/>
                </a:solidFill>
              </a:defRPr>
            </a:pPr>
            <a:r>
              <a:rPr sz="1350" b="0">
                <a:solidFill>
                  <a:srgbClr val="020618"/>
                </a:solidFill>
              </a:rPr>
              <a:t>512 calls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C27089-AC6C-4F3A-B452-CA7504F1C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108204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D75124-371B-4105-A6A7-5C379BFA2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289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20618"/>
                </a:solidFill>
              </a:defRPr>
            </a:pPr>
            <a:r>
              <a:rPr sz="1350" b="1">
                <a:solidFill>
                  <a:srgbClr val="020618"/>
                </a:solidFill>
              </a:rPr>
              <a:t>linear_down_proj_w4a16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9A7C99-22B3-464E-835C-561552C02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6289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20618"/>
                </a:solidFill>
              </a:defRPr>
            </a:pPr>
            <a:r>
              <a:rPr sz="1350" b="0">
                <a:solidFill>
                  <a:srgbClr val="020618"/>
                </a:solidFill>
              </a:rPr>
              <a:t>61,982.8 ms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290F70-0BE6-4440-A9B5-D0A651665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6289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20618"/>
                </a:solidFill>
              </a:defRPr>
            </a:pPr>
            <a:r>
              <a:rPr sz="1350" b="0">
                <a:solidFill>
                  <a:srgbClr val="020618"/>
                </a:solidFill>
              </a:rPr>
              <a:t>24,576 calls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CFDD36-C77F-4423-975D-998CD5FBC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108204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104D5A-AEE2-48D9-85C1-727B97109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813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20618"/>
                </a:solidFill>
              </a:defRPr>
            </a:pPr>
            <a:r>
              <a:rPr sz="1350" b="1">
                <a:solidFill>
                  <a:srgbClr val="020618"/>
                </a:solidFill>
              </a:rPr>
              <a:t>linear_up_proj_w4a16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574340-6674-4D8D-A952-082820634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1813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20618"/>
                </a:solidFill>
              </a:defRPr>
            </a:pPr>
            <a:r>
              <a:rPr sz="1350" b="0">
                <a:solidFill>
                  <a:srgbClr val="020618"/>
                </a:solidFill>
              </a:rPr>
              <a:t>61,703.4 ms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A7587D-C509-4CA9-A7D9-9A6711478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1813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20618"/>
                </a:solidFill>
              </a:defRPr>
            </a:pPr>
            <a:r>
              <a:rPr sz="1350" b="0">
                <a:solidFill>
                  <a:srgbClr val="020618"/>
                </a:solidFill>
              </a:rPr>
              <a:t>24,576 calls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B0B43C-1058-47AC-B0F6-E4488986C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108204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86D126-C32B-47B0-B03A-4DE1A37CD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338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20618"/>
                </a:solidFill>
              </a:defRPr>
            </a:pPr>
            <a:r>
              <a:rPr sz="1350" b="1">
                <a:solidFill>
                  <a:srgbClr val="020618"/>
                </a:solidFill>
              </a:rPr>
              <a:t>linear_gate_proj_w4a16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FE7E22-BD36-483D-8520-883A5C3B0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7338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20618"/>
                </a:solidFill>
              </a:defRPr>
            </a:pPr>
            <a:r>
              <a:rPr sz="1350" b="0">
                <a:solidFill>
                  <a:srgbClr val="020618"/>
                </a:solidFill>
              </a:rPr>
              <a:t>61,620.8 ms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123ECB-E434-487A-ACDF-E4567DAEB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7338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20618"/>
                </a:solidFill>
              </a:defRPr>
            </a:pPr>
            <a:r>
              <a:rPr sz="1350" b="0">
                <a:solidFill>
                  <a:srgbClr val="020618"/>
                </a:solidFill>
              </a:rPr>
              <a:t>24,576 calls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9CBCCC-C1AC-4502-BFB9-ADD05D64B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108204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663849-5EA1-4CDC-AF0F-981605E29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862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20618"/>
                </a:solidFill>
              </a:defRPr>
            </a:pPr>
            <a:r>
              <a:rPr sz="1350" b="1">
                <a:solidFill>
                  <a:srgbClr val="020618"/>
                </a:solidFill>
              </a:rPr>
              <a:t>lm_head_custom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8EFA41-62EE-4259-A2F6-063A25B91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2862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20618"/>
                </a:solidFill>
              </a:defRPr>
            </a:pPr>
            <a:r>
              <a:rPr sz="1350" b="0">
                <a:solidFill>
                  <a:srgbClr val="020618"/>
                </a:solidFill>
              </a:rPr>
              <a:t>11,971.0 ms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26D36F9-4333-4A3E-A384-9F3EFA299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2862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20618"/>
                </a:solidFill>
              </a:defRPr>
            </a:pPr>
            <a:r>
              <a:rPr sz="1350" b="0">
                <a:solidFill>
                  <a:srgbClr val="020618"/>
                </a:solidFill>
              </a:rPr>
              <a:t>256 calls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9D772E6-AE09-4AAB-B49F-C5067DD2F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08204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DF35069-885B-45A5-A08B-E615BCA74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387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20618"/>
                </a:solidFill>
              </a:defRPr>
            </a:pPr>
            <a:r>
              <a:rPr sz="1350" b="1">
                <a:solidFill>
                  <a:srgbClr val="020618"/>
                </a:solidFill>
              </a:rPr>
              <a:t>attention_score_custom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36EB40C-F867-4C8E-9D60-05BB88683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8387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20618"/>
                </a:solidFill>
              </a:defRPr>
            </a:pPr>
            <a:r>
              <a:rPr sz="1350" b="0">
                <a:solidFill>
                  <a:srgbClr val="020618"/>
                </a:solidFill>
              </a:rPr>
              <a:t>10,330.4 ms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EA52034-461D-432B-AC45-F42C69678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8387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20618"/>
                </a:solidFill>
              </a:defRPr>
            </a:pPr>
            <a:r>
              <a:rPr sz="1350" b="0">
                <a:solidFill>
                  <a:srgbClr val="020618"/>
                </a:solidFill>
              </a:rPr>
              <a:t>6,144 calls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D6AFB37-47AF-47B0-9629-72FEFF7DA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971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20618"/>
                </a:solidFill>
              </a:defRPr>
            </a:pPr>
            <a:r>
              <a:rPr sz="1650" b="1">
                <a:solidFill>
                  <a:srgbClr val="020618"/>
                </a:solidFill>
              </a:rPr>
              <a:t>Interpretation: W4A16 linears and full prompt prefill still dominate; v18r2 reduced overhead without changing the custom math path.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BED0E8C-C515-4FA7-A864-2D9981E61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748E"/>
                </a:solidFill>
              </a:defRPr>
            </a:pPr>
            <a:r>
              <a:rPr sz="1050" b="0">
                <a:solidFill>
                  <a:srgbClr val="62748E"/>
                </a:solidFill>
              </a:rPr>
              <a:t>Device Farm evidence-backed final / slide 6</a:t>
            </a:r>
          </a:p>
        </p:txBody>
      </p:sp>
    </p:spTree>
    <p:extLst>
      <p:ext uri="{BB962C8B-B14F-4D97-AF65-F5344CB8AC3E}">
        <p14:creationId xmlns:p14="http://schemas.microsoft.com/office/powerpoint/2010/main" val="23787154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53A2AF3-03A8-46CE-908E-F1BB62A30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9966"/>
                </a:solidFill>
              </a:defRPr>
            </a:pPr>
            <a:r>
              <a:rPr sz="1200" b="1">
                <a:solidFill>
                  <a:srgbClr val="009966"/>
                </a:solidFill>
              </a:rPr>
              <a:t>QWEN3.5-9B CUSTOM INFERENCE LIBRARY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1FF7A9-6AB5-4A7E-8ADF-4F3E66FAC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20618"/>
                </a:solidFill>
              </a:defRPr>
            </a:pPr>
            <a:r>
              <a:rPr sz="2850" b="1">
                <a:solidFill>
                  <a:srgbClr val="020618"/>
                </a:solidFill>
              </a:rPr>
              <a:t>The final claim is deliberately narrow and evidence-backed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D3DDAA-B9F9-4E6B-8063-8390E9E2D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0DB040-D5DF-4CED-AD5D-9C6089766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23812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60C17E-15F1-41A6-86F9-4147BD9E8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621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5556C"/>
                </a:solidFill>
              </a:defRPr>
            </a:pPr>
            <a:r>
              <a:rPr sz="1275" b="1">
                <a:solidFill>
                  <a:srgbClr val="45556C"/>
                </a:solidFill>
              </a:rPr>
              <a:t>Requirement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159EA4-B419-4A17-A5E7-D56FBD7B6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288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9966"/>
                </a:solidFill>
              </a:defRPr>
            </a:pPr>
            <a:r>
              <a:rPr sz="2550" b="1">
                <a:solidFill>
                  <a:srgbClr val="009966"/>
                </a:solidFill>
              </a:rPr>
              <a:t>YES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E0C875-FD1C-4C93-B416-5E1851EEB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051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5556C"/>
                </a:solidFill>
              </a:defRPr>
            </a:pPr>
            <a:r>
              <a:rPr sz="1200" b="0">
                <a:solidFill>
                  <a:srgbClr val="45556C"/>
                </a:solidFill>
              </a:rPr>
              <a:t>library walkthrough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3AF506-8A1D-4099-83B1-F1E167EB2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809750"/>
            <a:ext cx="23812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CE13DD-55F1-4720-87F6-0D2DC8094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9621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5556C"/>
                </a:solidFill>
              </a:defRPr>
            </a:pPr>
            <a:r>
              <a:rPr sz="1275" b="1">
                <a:solidFill>
                  <a:srgbClr val="45556C"/>
                </a:solidFill>
              </a:rPr>
              <a:t>Requirement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865729-6687-4D12-9A87-7AC3662D3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2288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9966"/>
                </a:solidFill>
              </a:defRPr>
            </a:pPr>
            <a:r>
              <a:rPr sz="2550" b="1">
                <a:solidFill>
                  <a:srgbClr val="009966"/>
                </a:solidFill>
              </a:rPr>
              <a:t>YES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13FC5E-3560-49BD-A604-E59D61A38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7051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5556C"/>
                </a:solidFill>
              </a:defRPr>
            </a:pPr>
            <a:r>
              <a:rPr sz="1200" b="0">
                <a:solidFill>
                  <a:srgbClr val="45556C"/>
                </a:solidFill>
              </a:rPr>
              <a:t>TPS, TPOT, kernels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5C6869-9620-488D-BD58-BF6E79B35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809750"/>
            <a:ext cx="23812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526308-537A-4AF9-832E-F868D4293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621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5556C"/>
                </a:solidFill>
              </a:defRPr>
            </a:pPr>
            <a:r>
              <a:rPr sz="1275" b="1">
                <a:solidFill>
                  <a:srgbClr val="45556C"/>
                </a:solidFill>
              </a:rPr>
              <a:t>Speedup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E12E58-D73F-4D9E-A1C6-2B5284134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288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E9A00"/>
                </a:solidFill>
              </a:defRPr>
            </a:pPr>
            <a:r>
              <a:rPr sz="2550" b="1">
                <a:solidFill>
                  <a:srgbClr val="FE9A00"/>
                </a:solidFill>
              </a:rPr>
              <a:t>NO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3AAE6D-2BE2-47F8-8647-7B4D2BFFA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051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5556C"/>
                </a:solidFill>
              </a:defRPr>
            </a:pPr>
            <a:r>
              <a:rPr sz="1200" b="0">
                <a:solidFill>
                  <a:srgbClr val="45556C"/>
                </a:solidFill>
              </a:rPr>
              <a:t>stock still faster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5255D0-55B4-47DC-B25A-BCDB3775F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20618"/>
                </a:solidFill>
              </a:defRPr>
            </a:pPr>
            <a:r>
              <a:rPr sz="1350" b="0">
                <a:solidFill>
                  <a:srgbClr val="020618"/>
                </a:solidFill>
              </a:rPr>
              <a:t>- Official custom path is full custom: fallback_op_families = []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C54DEC-EFFF-415F-B18E-359E1C33C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20618"/>
                </a:solidFill>
              </a:defRPr>
            </a:pPr>
            <a:r>
              <a:rPr sz="1350" b="0">
                <a:solidFill>
                  <a:srgbClr val="020618"/>
                </a:solidFill>
              </a:rPr>
              <a:t>- Device Farm v18r2 run ARN is recorded in the final report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DFC6D9-AD41-4216-8288-614ECE1B3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20618"/>
                </a:solidFill>
              </a:defRPr>
            </a:pPr>
            <a:r>
              <a:rPr sz="1350" b="0">
                <a:solidFill>
                  <a:srgbClr val="020618"/>
                </a:solidFill>
              </a:rPr>
              <a:t>- Next performance work should target prefill batching and larger GEMV/lm_head parallelism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8A6726-C321-4999-8DD7-B8397C09C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962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20618"/>
                </a:solidFill>
              </a:defRPr>
            </a:pPr>
            <a:r>
              <a:rPr sz="2250" b="1">
                <a:solidFill>
                  <a:srgbClr val="020618"/>
                </a:solidFill>
              </a:rPr>
              <a:t>Bottom line: v18r2 is a real improvement, not a speedup claim.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390CCF-9087-4BEC-BB02-F70B849EE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748E"/>
                </a:solidFill>
              </a:defRPr>
            </a:pPr>
            <a:r>
              <a:rPr sz="1050" b="0">
                <a:solidFill>
                  <a:srgbClr val="62748E"/>
                </a:solidFill>
              </a:rPr>
              <a:t>Device Farm evidence-backed final / slide 7</a:t>
            </a:r>
          </a:p>
        </p:txBody>
      </p:sp>
    </p:spTree>
    <p:extLst>
      <p:ext uri="{BB962C8B-B14F-4D97-AF65-F5344CB8AC3E}">
        <p14:creationId xmlns:p14="http://schemas.microsoft.com/office/powerpoint/2010/main" val="18786988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2026-07-05T09:56:24.6960000Z</dcterms:created>
  <dcterms:modified xsi:type="dcterms:W3CDTF">2026-07-05T09:56:24.6960000Z</dcterms:modified>
</coreProperties>
</file>