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d7b2bd7e8d4ed9" /><Relationship Type="http://schemas.openxmlformats.org/officeDocument/2006/relationships/extended-properties" Target="/docProps/app.xml" Id="R5cf4d8b0c73b4d98" /><Relationship Type="http://schemas.openxmlformats.org/officeDocument/2006/relationships/officeDocument" Target="/ppt/presentation.xml" Id="R386b964629d748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a935dc331e4529"/>
  </p:sldMasterIdLst>
  <p:notesMasterIdLst>
    <p:notesMasterId xmlns:r="http://schemas.openxmlformats.org/officeDocument/2006/relationships" r:id="R00001be44b184f61"/>
  </p:notesMasterIdLst>
  <p:sldIdLst>
    <p:sldId xmlns:r="http://schemas.openxmlformats.org/officeDocument/2006/relationships" id="256" r:id="R55d790d8a1ad4a60"/>
    <p:sldId xmlns:r="http://schemas.openxmlformats.org/officeDocument/2006/relationships" id="257" r:id="R1fc2149746b64ec5"/>
    <p:sldId xmlns:r="http://schemas.openxmlformats.org/officeDocument/2006/relationships" id="258" r:id="Rda01ba664e654424"/>
    <p:sldId xmlns:r="http://schemas.openxmlformats.org/officeDocument/2006/relationships" id="259" r:id="Recfe1a0323714f23"/>
    <p:sldId xmlns:r="http://schemas.openxmlformats.org/officeDocument/2006/relationships" id="260" r:id="R17cfce60d30b42f9"/>
    <p:sldId xmlns:r="http://schemas.openxmlformats.org/officeDocument/2006/relationships" id="261" r:id="R52b2617fb0b841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9cbab2833b4217" /><Relationship Type="http://schemas.openxmlformats.org/officeDocument/2006/relationships/slideMaster" Target="/ppt/slideMasters/slideMaster1.xml" Id="R02a935dc331e4529" /><Relationship Type="http://schemas.openxmlformats.org/officeDocument/2006/relationships/notesMaster" Target="/ppt/notesMasters/notesMaster1.xml" Id="R00001be44b184f61" /><Relationship Type="http://schemas.openxmlformats.org/officeDocument/2006/relationships/presProps" Target="/ppt/presProps.xml" Id="Rc02b13d3871841ff" /><Relationship Type="http://schemas.openxmlformats.org/officeDocument/2006/relationships/tableStyles" Target="/ppt/tableStyles.xml" Id="R51852ff3f21c4561" /><Relationship Type="http://schemas.openxmlformats.org/officeDocument/2006/relationships/slide" Target="/ppt/slides/slide1.xml" Id="R55d790d8a1ad4a60" /><Relationship Type="http://schemas.openxmlformats.org/officeDocument/2006/relationships/slide" Target="/ppt/slides/slide2.xml" Id="R1fc2149746b64ec5" /><Relationship Type="http://schemas.openxmlformats.org/officeDocument/2006/relationships/slide" Target="/ppt/slides/slide3.xml" Id="Rda01ba664e654424" /><Relationship Type="http://schemas.openxmlformats.org/officeDocument/2006/relationships/slide" Target="/ppt/slides/slide4.xml" Id="Recfe1a0323714f23" /><Relationship Type="http://schemas.openxmlformats.org/officeDocument/2006/relationships/slide" Target="/ppt/slides/slide5.xml" Id="R17cfce60d30b42f9" /><Relationship Type="http://schemas.openxmlformats.org/officeDocument/2006/relationships/slide" Target="/ppt/slides/slide6.xml" Id="R52b2617fb0b841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78b927d5ae4e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15c2c701f14639" /><Relationship Type="http://schemas.openxmlformats.org/officeDocument/2006/relationships/notesMaster" Target="/ppt/notesMasters/notesMaster1.xml" Id="R1ba85e0be0bf41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470a5cf0f34c74" /><Relationship Type="http://schemas.openxmlformats.org/officeDocument/2006/relationships/notesMaster" Target="/ppt/notesMasters/notesMaster1.xml" Id="R827510d2c96748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7e41fdc0bf4ba0" /><Relationship Type="http://schemas.openxmlformats.org/officeDocument/2006/relationships/notesMaster" Target="/ppt/notesMasters/notesMaster1.xml" Id="R464e91ab28aa43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933c3e816b4255" /><Relationship Type="http://schemas.openxmlformats.org/officeDocument/2006/relationships/notesMaster" Target="/ppt/notesMasters/notesMaster1.xml" Id="Rfa16d918d5894f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22c0d2902a4fc3" /><Relationship Type="http://schemas.openxmlformats.org/officeDocument/2006/relationships/notesMaster" Target="/ppt/notesMasters/notesMaster1.xml" Id="R3f165c43512448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68288db5e348d1" /><Relationship Type="http://schemas.openxmlformats.org/officeDocument/2006/relationships/notesMaster" Target="/ppt/notesMasters/notesMaster1.xml" Id="Reb3aa999e81b4f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d1ce7913044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fc31390c8b41b2" /><Relationship Type="http://schemas.openxmlformats.org/officeDocument/2006/relationships/slideLayout" Target="/ppt/slideLayouts/slideLayout1.xml" Id="Re1ae784679d14a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ae784679d14a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9204bf7db4a2f" /><Relationship Type="http://schemas.openxmlformats.org/officeDocument/2006/relationships/notesSlide" Target="/ppt/notesSlides/notesSlide1.xml" Id="Rd45f9861372b47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6f2f224414135" /><Relationship Type="http://schemas.openxmlformats.org/officeDocument/2006/relationships/notesSlide" Target="/ppt/notesSlides/notesSlide2.xml" Id="Re0470140c93f48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9f80101854b1f" /><Relationship Type="http://schemas.openxmlformats.org/officeDocument/2006/relationships/notesSlide" Target="/ppt/notesSlides/notesSlide3.xml" Id="R4460ade2136449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4f78e501348f8" /><Relationship Type="http://schemas.openxmlformats.org/officeDocument/2006/relationships/notesSlide" Target="/ppt/notesSlides/notesSlide4.xml" Id="R5c370a55264240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f8625b43a4ed9" /><Relationship Type="http://schemas.openxmlformats.org/officeDocument/2006/relationships/notesSlide" Target="/ppt/notesSlides/notesSlide5.xml" Id="R1898728d93a44b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c5637257f40b6" /><Relationship Type="http://schemas.openxmlformats.org/officeDocument/2006/relationships/notesSlide" Target="/ppt/notesSlides/notesSlide6.xml" Id="R995c05ac3f0448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7BF28C-144F-4980-893F-7C8AAC1C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3A0FF-81F1-4605-AEDD-28D00805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Final Device Farm v17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2949E-8F5C-4FEB-8AFE-7FCB67D3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A complete custom CPU decode/prefill path is measured against stock MNN on Samsung Galaxy S26 Ultra. Vulkan was attempted, but no custom Vulkan kernels executed in measured generation.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B890E-A7DA-4D87-8D43-901A5787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4288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1DB09-887D-401D-A6FA-499DB8E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5569"/>
                </a:solidFill>
              </a:defRPr>
            </a:pPr>
            <a:r>
              <a:rPr sz="1200" b="1">
                <a:solidFill>
                  <a:srgbClr val="475569"/>
                </a:solidFill>
              </a:rPr>
              <a:t>Best stock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2C073-39B0-4137-9D48-D6EDF0F3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2.277 TPS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27F68-EC0D-42BA-A298-189EAC66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MNN CPU decode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0E837-6C17-4DCC-8975-95648943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29000"/>
            <a:ext cx="29051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65080-D481-40AC-9B07-323B7A24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00450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5569"/>
                </a:solidFill>
              </a:defRPr>
            </a:pPr>
            <a:r>
              <a:rPr sz="1200" b="1">
                <a:solidFill>
                  <a:srgbClr val="475569"/>
                </a:solidFill>
              </a:rPr>
              <a:t>Best custom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61DB6-4B17-4819-B3F1-9D7B9A00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05250"/>
            <a:ext cx="2486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1.934 TPS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FC84A-645F-4023-AF38-2DC45B61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815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hybrid requested, actual CPU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D9C92-DF97-4C9C-9CB9-997FACC1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29000"/>
            <a:ext cx="24288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908B4-1363-4E2B-A71A-53006296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5569"/>
                </a:solidFill>
              </a:defRPr>
            </a:pPr>
            <a:r>
              <a:rPr sz="1200" b="1">
                <a:solidFill>
                  <a:srgbClr val="475569"/>
                </a:solidFill>
              </a:rPr>
              <a:t>Ratio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13C32-3C95-4D02-979C-0CF83B45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0.849x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077F7-D83B-4925-8107-DCB44D00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no speedup claimed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6E1F6-57E4-427A-AB24-CC64DDD1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2095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E4C87-7AFE-4874-80EF-B18C0C36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004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5569"/>
                </a:solidFill>
              </a:defRPr>
            </a:pPr>
            <a:r>
              <a:rPr sz="1200" b="1">
                <a:solidFill>
                  <a:srgbClr val="475569"/>
                </a:solidFill>
              </a:rPr>
              <a:t>Fallbacks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42084-68A1-43CE-AB90-39856852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052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[]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B71C0-0DE3-47F7-8267-71B4F756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full custom decode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FFDC7-DDD5-4B46-B134-8D5A2D78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Device Farm: Galaxy S26 Ultra / Android 16 · Qwen/Qwen3.5-9B W4A16 · 512 prompt tokens · 256 decode tokens</a:t>
            </a:r>
          </a:p>
        </p:txBody>
      </p:sp>
    </p:spTree>
    <p:extLst>
      <p:ext uri="{BB962C8B-B14F-4D97-AF65-F5344CB8AC3E}">
        <p14:creationId xmlns:p14="http://schemas.microsoft.com/office/powerpoint/2010/main" val="902157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BFFAF6-87AE-41E4-A83E-1C58A76F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96451-F903-473A-8AAA-4685BE1A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The measured custom path is real full-model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03A0C-1D6E-4731-9345-6A0C74B0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D1BC2-7A09-4F49-B88F-37E5EA3E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238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EA3D1-7C17-4FBD-87AD-1CF4E5D8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JNI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1D434-6BF1-4A44-87E3-78E147C7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241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FE78A-C1C9-416F-B086-FC154402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38375"/>
            <a:ext cx="1238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6807D-CA69-4374-91FE-BE1AD95A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4574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xq_generate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10DAC-B467-475A-9F00-48465AA1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241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F6F10-66F2-4E6D-9EEF-4EB71236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38375"/>
            <a:ext cx="1238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E5279-D8DC-4474-9C35-F42D863C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Custom prefill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0FA0F-1374-49A0-A085-121D6FDC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241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8C1BC-E7E5-4FD6-9D45-8489AF1F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238375"/>
            <a:ext cx="1238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24CC3-F94C-414C-9D2C-F31B7E68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4574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Custom decode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E400B-9330-45D0-A153-36660A96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5241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ABD18-4F6C-4ADD-8BF4-C40661BA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238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D9F0C-323C-4579-9D80-5217FF1E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574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lm_head + greedy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3DE24-5D27-43E7-994E-1A768EDA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use_mnn_fallback = 0 and calls_mnn_llm_response_for_measured_generation = 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27FFD-20EC-421D-94B6-EA2658D3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Full prompt prefill builds KV cache and linear-attention recurrent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B9E71-4465-4ABE-895B-5BDA5E91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577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Decode replaces q/k/v/o, MLP linears, RMSNorm, RoPE, attention, lm_head, sampling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775FA-4823-4D8E-8026-96A0B63B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577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selected_kernels.fallback_op_families = [] in the measured custom JSON</a:t>
            </a:r>
          </a:p>
        </p:txBody>
      </p:sp>
    </p:spTree>
    <p:extLst>
      <p:ext uri="{BB962C8B-B14F-4D97-AF65-F5344CB8AC3E}">
        <p14:creationId xmlns:p14="http://schemas.microsoft.com/office/powerpoint/2010/main" val="1350004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02C532-2BDD-4F1A-AB3D-833A4A18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EA0E4-B832-4895-8AA4-F5B826B1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Kernel library architecture separates kernels, runtime, and connectors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67B26-73D8-4F63-8D3C-39C02E59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E6EDD-38E3-45CD-A269-F21D60D5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59E2D-629A-46B9-B4FD-35D7E3E3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Public C ABI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486C3-17F9-4F84-809A-AA43D20D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customlib/include/xqwen35.h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8472D-C951-4069-89D9-AC6D1F71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Stable entry for JNI and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4E437-3C71-4A26-AD55-9D80AE8C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2BF47-4278-474E-98B7-5AC9AD16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4CC84-FA37-4456-A395-ACBFBD0B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custom_model.cpp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ACF74-10B9-43B3-886B-3BF844D3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Prefill, decode, trace, 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AE8C2-A03C-41D5-8C5C-775850AB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AED89-FA6B-4022-B497-6CB54F10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Generated kernels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48F11-ED9D-40EF-BC14-FE71FE4F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xq_gemv_w4a16_neon.cpp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F802C-180C-42DE-B9DC-56AF7BE3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19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Tiled fused dequant GEMV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914FA-E9C8-46E4-A348-8D866E29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9550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3DAAC-299A-4D92-B11E-34DBDC40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Connectors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BD754-3699-4A2B-B692-9CCD8C66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575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Android JNI + Device Farm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AF458-5AFD-4578-B72B-E86D54CE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19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Benchmark JSON and bootstrap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209A5-7C23-4982-A10B-BDCFD03C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B91C1C"/>
                </a:solidFill>
              </a:rPr>
              <a:t>The fallback connector still exists for debugging, but the measured custom benchmark does not use it.</a:t>
            </a:r>
          </a:p>
        </p:txBody>
      </p:sp>
    </p:spTree>
    <p:extLst>
      <p:ext uri="{BB962C8B-B14F-4D97-AF65-F5344CB8AC3E}">
        <p14:creationId xmlns:p14="http://schemas.microsoft.com/office/powerpoint/2010/main" val="1006455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8EFAB8-F366-4297-AE06-2C0152C6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615AD-9C4E-465E-B23E-54D252C4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The W4A16 kernel pass targeted the real decode bottleneck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A19CD-8DD1-4E42-9D0C-CAD27EB6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04989-22B6-4892-99EE-14FFC11F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Persistent worker pool avoids thread creation inside every large GEMV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5AA01-39E8-448D-ABC6-B0B20691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Activation group sums are precomputed once per input and reused across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99455-60EB-4267-B5B0-A6629A6A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Streaming lm_head argmax avoids materializing full logits for greedy sampling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DDC9C-F94C-41A3-BF37-9CB03F13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Trace rows carry backend, calls, total, mean, min, and max wall clock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C87C4-7B5C-465B-9BD6-732B63DA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917A1-0A2D-44E0-B8F6-20D46D33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33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Generated GEMV microbench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93015-41AB-4D3E-9605-DB95E6D3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05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4096 x 4096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55325-0B3B-4FA1-AFEB-E31E92E1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337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906B4-3C2A-4D87-A53D-66B0CAD0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33700"/>
            <a:ext cx="130141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85CC7-0E23-4CC8-A1AD-F7DAAA21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29051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1.24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1F03D-9502-4EBB-B6D5-A61771AA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81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12288 x 4096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45FB1-6A92-49F7-A912-FFAB3270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099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824ED-C2ED-4B44-B331-936EAE8D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09950"/>
            <a:ext cx="294261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BC586-48FD-49EA-AE5B-F6B0F517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33813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2.81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43EA3-FD29-4105-BF59-FE27D83F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57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4096 x 12288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12426-C0B3-4BEA-8520-C6AF4D41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3D1DF2-F9AE-489B-B9E2-D5BD0BF0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278859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3A62D-2E3D-46A1-95F0-8F895DB1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3857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2.66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F4CA02-E495-49C7-9658-49CBBAE4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10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The W4 file selected by Qwen3.5 does not call gemvLowBitReference.</a:t>
            </a:r>
          </a:p>
        </p:txBody>
      </p:sp>
    </p:spTree>
    <p:extLst>
      <p:ext uri="{BB962C8B-B14F-4D97-AF65-F5344CB8AC3E}">
        <p14:creationId xmlns:p14="http://schemas.microsoft.com/office/powerpoint/2010/main" val="1009850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5E2BF-9822-4DC8-8952-FBCC062E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FC274-5824-45D9-A5B8-D84AA430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Device Farm numbers show improvement, not a speedup over MNN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8E2E5-38C2-4EFD-9FE3-5F2DABE6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1ED10-1442-4458-82B2-E646B176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ED528-6E5B-4FFC-8FA3-C737FEAB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Variant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1B041-230D-4260-97B0-0BDABE7E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412E5-1406-4E3F-9DF2-75F52F8F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859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Requested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2BB7C-3F8F-40F9-AE75-209E1707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653F0-72A6-47AC-9581-C3D6B018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85975"/>
            <a:ext cx="1800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Actual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8EB16-AFB9-4DDB-A62F-353BAA3D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00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920A0-0687-4045-879E-EE02BD6C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0859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81FD7-1AEA-4453-ACEA-5F8DBAE6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00250"/>
            <a:ext cx="1285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6A48D-AE53-464C-B0B7-7801F2A7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08597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Prefill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6E4B0-635C-4789-AC27-BE9DB6FD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002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B5BCC-D469-4452-85FA-46070D04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859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Decode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74DC7-1362-41FA-B30E-857A4298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E0CC8-AD95-4A2F-BDE8-F46794C3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Stock MNN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29B14-B9C8-4461-83F9-1C8EE6D1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193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0F454-BA9D-4C08-9286-E1C07EC4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050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cpu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CA14E-98AE-4098-98C9-EE4075EB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09D65B-B9C2-4CE0-A42D-6980EA5E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05075"/>
            <a:ext cx="1800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cpu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D0827-7565-4A69-A3E3-BBC29BD6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193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53CF4-76F2-4C05-A06A-17FB9EC1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050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40D8A4-3D68-47B6-A19F-DE258542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19350"/>
            <a:ext cx="1285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53FEC-7EA9-4C43-8304-F97C3E00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0507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45.638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B261D-24B6-423A-A6A8-27806C5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193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0E89EB-AA34-41B3-ABB6-5CD495F0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050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2.277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25CD78-7D73-47AD-9889-1AA681E3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5A2B92-F4B2-4CC5-BC8D-9864CFA0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Stock MNN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EBAA87-B363-45E6-9F74-C99D5A75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AA62A-02FF-4CB9-B8B3-D9979202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670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vulkan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3C8B3D-6506-43B1-8325-7396B0D1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B16408-19A9-417C-BB6C-A0AE6F79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67025"/>
            <a:ext cx="1800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n/a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139A6E-F545-429C-8823-304E0375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81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2D020B-472C-43BE-B3C2-A7810F60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670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crashed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D536BA-7A31-4254-97C0-18BFCF62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81300"/>
            <a:ext cx="1285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C49315-DD0F-47DB-BF22-867888D8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6702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n/a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5F2112-176A-4A15-AB64-83CCB1E5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813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4E12AD-EE18-4512-B5EE-9396AA5B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67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n/a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B446C0-A0A9-4F24-8183-CA09C1C4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DBF87F-39AF-48A5-A40B-5F86E970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Customlib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5B265A-903B-44A6-AF73-F8B28587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A79984-9E00-4DB8-9797-53C413BE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289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cpu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6497FF-EC55-4C40-A360-C86CC9B9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60AF14-DCBB-4D5D-945E-F2D51005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28975"/>
            <a:ext cx="1800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cpu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A2BE39-4213-4080-9CB4-1EE65D1A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43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4F233E-474B-408A-9A80-8A91E299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2289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ok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EB0EE2-0472-4663-A80A-E133A988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1285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0B4F5E-9676-4A1F-9DFC-2F2A3D2D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22897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2.139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DD8121-082B-422A-B3D4-F85C29DB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F4AF63-8606-4A5E-8374-0E4B2116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289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1.856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27A910-1C85-4F93-BCD4-DAA1FAFC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3FA830-53EE-43E0-9CE9-EC03676E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Customlib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6977A7-6C24-4884-974A-E6AE171B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25D8A1-7760-4A59-ADBD-409137A3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909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hybrid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11CEC6-586E-404C-B26F-4D3AB9A0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679D34-8395-4C15-ADF3-89B9FD0C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90925"/>
            <a:ext cx="1800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cpu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D52103-7168-4E09-AB3D-FB732704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05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527A78-BFAA-409C-A451-D3811C5E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5909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ok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78DCF5-D611-447E-97F8-DFAF02A5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05200"/>
            <a:ext cx="1285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B1EAAB-9EB4-4A8B-848C-449CB058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590925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2.215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087438-E74C-4437-9329-809321B9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052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3488D3-83DE-40B8-A6F0-3C1A9365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909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1.934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DAEF3E-DEC0-4509-A5E5-6C930089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Stock CPU decode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376BE8A-5540-4A4F-A11C-A8E482F3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577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4806A8-195B-4465-B1E4-C2EC4F8A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57700"/>
            <a:ext cx="298276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8AB923-700E-4518-AB7A-2BF91B78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291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2.277 TPS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220943-658A-4EB8-AB10-FFE95115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Best custom decode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735B55-6A09-4FEC-A72F-70A39110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A69A1D-05CD-4269-B2D1-96BEBCFF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253315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AA79D1-8DB1-4896-82F0-AB4A970D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053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1.934 TPS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BB29BEC-3A4B-4F55-80B6-AF55ED4C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673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B91C1C"/>
                </a:solidFill>
              </a:rPr>
              <a:t>Best custom / stock CPU = 0.849x. The v17 CPU pass improves custom from v16, but MNN remains faster.</a:t>
            </a:r>
          </a:p>
        </p:txBody>
      </p:sp>
    </p:spTree>
    <p:extLst>
      <p:ext uri="{BB962C8B-B14F-4D97-AF65-F5344CB8AC3E}">
        <p14:creationId xmlns:p14="http://schemas.microsoft.com/office/powerpoint/2010/main" val="2094494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738629-21AB-43A5-8E06-A274159F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QWEN3.5-9B CUSTOM INFERENCE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3E967-E08F-48FE-96C5-1A58D987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The final verdict is complete coverage with no speedup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3F8F7-C58B-4032-9AE4-C1F8667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49532-378B-4FEC-92F5-09CC65B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Requirement 1: YES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89D80-0E7C-4B7C-B65D-D5AA4492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955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Requirement 2: YES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C168A-87C9-42FB-8F50-2B38939B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95500"/>
            <a:ext cx="2286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Vulkan attempted: YES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11BBC-9A33-414A-999F-268EF6BA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Custom Vulkan used: 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99D14-4B6B-4C05-B739-ED5917F1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Final report: results/reports/final_devicefarm_report.md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33EB7-E2C6-47D5-8C0C-9E38408B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194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Evidence JSON: results/reports/evidence/v17_backend_sweep_summary.json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A1BE8-1737-4DE1-A2E5-62780628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Code walkthrough: docs/kernel_library_code_walkthrough_final.md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20F39-14A4-412A-9D83-30505D38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576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Cleanup scripts remove build/raw/private artifacts while preserving final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F50FF-A31D-437F-962B-11C028C7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Conclusion: the custom library is a real full custom decode/prefill implementation and is verifiable on Device Farm; it is still slower than stock MNN CPU on Galaxy S26 Ultra.</a:t>
            </a:r>
          </a:p>
        </p:txBody>
      </p:sp>
    </p:spTree>
    <p:extLst>
      <p:ext uri="{BB962C8B-B14F-4D97-AF65-F5344CB8AC3E}">
        <p14:creationId xmlns:p14="http://schemas.microsoft.com/office/powerpoint/2010/main" val="556666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2026-07-05T06:55:56.9170000Z</dcterms:created>
  <dcterms:modified xsi:type="dcterms:W3CDTF">2026-07-05T06:55:56.9170000Z</dcterms:modified>
</coreProperties>
</file>